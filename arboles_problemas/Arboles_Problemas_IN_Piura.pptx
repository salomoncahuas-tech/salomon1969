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5119604" cy="1069207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Árbol unificado. Una causa o efecto entra al árbol unificado cuando tiene evidencia en al menos dos provincias, o cuando es generalizado en una de ellas. Las marcas M, H y A indican presencia (· puntual, ·· frecuente, ··· generalizada). Las causas propias de una sola provincia (especies exóticas y derechos mineros en Huancabamba; corredor vial en Ayabaca; ocupación urbana en Morropón) se detallan en los árboles provinciales.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Árbol provincial de Morropón. Superficie V8 neta 7,313.55 ha (se excluyeron 13.81 ha por sitio arqueológico y derechos mineros). Pendientes: niveles PMM/EPH/PGI por bloque, inventario de daños por evento, delimitación de la población aguas abajo, laboratorio de suelos, pobreza y NBI, y F-DS-04, 05 y 07.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Árbol provincial de Huancabamba. Superficie V8 neta 3,452.21 ha (se excluyeron 98.95 ha del petitorio minero LM30); el PI se calculó sobre el polígono V7 (3,551.16 ha). Pendientes: criterio único de brecha MSAVI, modelo PMM/EPH/PGI por bloque, inventario de daños, delimitación de exposición aguas abajo, laboratorio de suelos y fichas sociales en Huarmaca.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Árbol provincial de Ayabaca (Frías). Problema central redactado según el modelo de referencia ANIN (ZZ-000005, Fig. 2), sin incluir la regulación hídrica en el enunciado. Las cifras provienen del Informe E2 Vol. III (30-oct-2026), del Diagnóstico Ayabaca V5 y del Informe EVAR. Pendientes: criterio único de brecha MSAVI, modelo PMM/EPH/PGI por bloque, registro de daños históricos, laboratorio de suelos y fichas F-DS-03 a F-DS-07.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 name="Connector 57"/>
          <p:cNvCxnSpPr>
            <a:stCxn id="4" idx="2"/>
            <a:endCxn id="9" idx="0"/>
          </p:cNvCxnSpPr>
          <p:nvPr/>
        </p:nvCxnSpPr>
        <p:spPr>
          <a:xfrm rot="5400000" flipV="1">
            <a:off x="10267340" y="-711098"/>
            <a:ext cx="384047" cy="579912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a:stCxn id="9" idx="2"/>
            <a:endCxn id="12" idx="0"/>
          </p:cNvCxnSpPr>
          <p:nvPr/>
        </p:nvCxnSpPr>
        <p:spPr>
          <a:xfrm rot="5400000">
            <a:off x="12683642" y="2927451"/>
            <a:ext cx="384048" cy="96652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a:stCxn id="9" idx="2"/>
            <a:endCxn id="11" idx="0"/>
          </p:cNvCxnSpPr>
          <p:nvPr/>
        </p:nvCxnSpPr>
        <p:spPr>
          <a:xfrm rot="5400000">
            <a:off x="10267340" y="511149"/>
            <a:ext cx="384048" cy="579912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a:stCxn id="4" idx="2"/>
            <a:endCxn id="8" idx="0"/>
          </p:cNvCxnSpPr>
          <p:nvPr/>
        </p:nvCxnSpPr>
        <p:spPr>
          <a:xfrm rot="5400000" flipV="1">
            <a:off x="8817559" y="738682"/>
            <a:ext cx="384047" cy="2899562"/>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a:stCxn id="8" idx="2"/>
            <a:endCxn id="12" idx="0"/>
          </p:cNvCxnSpPr>
          <p:nvPr/>
        </p:nvCxnSpPr>
        <p:spPr>
          <a:xfrm rot="5400000" flipV="1">
            <a:off x="11233861" y="2444191"/>
            <a:ext cx="384048" cy="1933041"/>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a:stCxn id="4" idx="2"/>
            <a:endCxn id="7" idx="0"/>
          </p:cNvCxnSpPr>
          <p:nvPr/>
        </p:nvCxnSpPr>
        <p:spPr>
          <a:xfrm rot="5400000">
            <a:off x="7367778" y="2188464"/>
            <a:ext cx="384047"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a:stCxn id="7" idx="2"/>
            <a:endCxn id="11" idx="0"/>
          </p:cNvCxnSpPr>
          <p:nvPr/>
        </p:nvCxnSpPr>
        <p:spPr>
          <a:xfrm rot="5400000">
            <a:off x="7367777" y="3410712"/>
            <a:ext cx="384048"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a:stCxn id="4" idx="2"/>
            <a:endCxn id="6" idx="0"/>
          </p:cNvCxnSpPr>
          <p:nvPr/>
        </p:nvCxnSpPr>
        <p:spPr>
          <a:xfrm rot="5400000">
            <a:off x="5917996" y="738682"/>
            <a:ext cx="384047" cy="2899562"/>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a:stCxn id="6" idx="2"/>
            <a:endCxn id="10" idx="0"/>
          </p:cNvCxnSpPr>
          <p:nvPr/>
        </p:nvCxnSpPr>
        <p:spPr>
          <a:xfrm rot="5400000">
            <a:off x="3501694" y="2444191"/>
            <a:ext cx="384048" cy="1933041"/>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a:stCxn id="4" idx="2"/>
            <a:endCxn id="5" idx="0"/>
          </p:cNvCxnSpPr>
          <p:nvPr/>
        </p:nvCxnSpPr>
        <p:spPr>
          <a:xfrm rot="5400000">
            <a:off x="4468215" y="-711098"/>
            <a:ext cx="384047" cy="579912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a:stCxn id="5" idx="2"/>
            <a:endCxn id="12" idx="0"/>
          </p:cNvCxnSpPr>
          <p:nvPr/>
        </p:nvCxnSpPr>
        <p:spPr>
          <a:xfrm rot="5400000" flipV="1">
            <a:off x="6884517" y="-1905152"/>
            <a:ext cx="384048" cy="10631728"/>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a:stCxn id="5" idx="2"/>
            <a:endCxn id="10" idx="0"/>
          </p:cNvCxnSpPr>
          <p:nvPr/>
        </p:nvCxnSpPr>
        <p:spPr>
          <a:xfrm rot="5400000" flipV="1">
            <a:off x="2051913" y="2927451"/>
            <a:ext cx="384048" cy="96652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a:stCxn id="12" idx="2"/>
            <a:endCxn id="13" idx="0"/>
          </p:cNvCxnSpPr>
          <p:nvPr/>
        </p:nvCxnSpPr>
        <p:spPr>
          <a:xfrm rot="5400000">
            <a:off x="9770364" y="207797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11" idx="2"/>
            <a:endCxn id="13" idx="0"/>
          </p:cNvCxnSpPr>
          <p:nvPr/>
        </p:nvCxnSpPr>
        <p:spPr>
          <a:xfrm rot="5400000">
            <a:off x="7354062" y="4494276"/>
            <a:ext cx="411480"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10" idx="2"/>
            <a:endCxn id="13" idx="0"/>
          </p:cNvCxnSpPr>
          <p:nvPr/>
        </p:nvCxnSpPr>
        <p:spPr>
          <a:xfrm rot="5400000" flipV="1">
            <a:off x="4937760" y="207797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18" idx="1"/>
            <a:endCxn id="28" idx="1"/>
          </p:cNvCxnSpPr>
          <p:nvPr/>
        </p:nvCxnSpPr>
        <p:spPr>
          <a:xfrm>
            <a:off x="10076688" y="6536436"/>
            <a:ext cx="274320" cy="217246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18" idx="1"/>
            <a:endCxn id="27" idx="1"/>
          </p:cNvCxnSpPr>
          <p:nvPr/>
        </p:nvCxnSpPr>
        <p:spPr>
          <a:xfrm>
            <a:off x="10076688" y="6536436"/>
            <a:ext cx="274320" cy="151447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18" idx="1"/>
            <a:endCxn id="26" idx="1"/>
          </p:cNvCxnSpPr>
          <p:nvPr/>
        </p:nvCxnSpPr>
        <p:spPr>
          <a:xfrm>
            <a:off x="10076688" y="6536436"/>
            <a:ext cx="274320" cy="76695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a:stCxn id="17" idx="1"/>
            <a:endCxn id="25" idx="1"/>
          </p:cNvCxnSpPr>
          <p:nvPr/>
        </p:nvCxnSpPr>
        <p:spPr>
          <a:xfrm>
            <a:off x="5244084" y="6536436"/>
            <a:ext cx="274320" cy="217246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17" idx="1"/>
            <a:endCxn id="24" idx="1"/>
          </p:cNvCxnSpPr>
          <p:nvPr/>
        </p:nvCxnSpPr>
        <p:spPr>
          <a:xfrm>
            <a:off x="5244084" y="6536436"/>
            <a:ext cx="274320" cy="151447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a:stCxn id="17" idx="1"/>
            <a:endCxn id="23" idx="1"/>
          </p:cNvCxnSpPr>
          <p:nvPr/>
        </p:nvCxnSpPr>
        <p:spPr>
          <a:xfrm>
            <a:off x="5244084" y="6536436"/>
            <a:ext cx="274320" cy="76695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a:stCxn id="16" idx="1"/>
            <a:endCxn id="22" idx="1"/>
          </p:cNvCxnSpPr>
          <p:nvPr/>
        </p:nvCxnSpPr>
        <p:spPr>
          <a:xfrm>
            <a:off x="411480" y="6536436"/>
            <a:ext cx="274320" cy="2740913"/>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16" idx="1"/>
            <a:endCxn id="21" idx="1"/>
          </p:cNvCxnSpPr>
          <p:nvPr/>
        </p:nvCxnSpPr>
        <p:spPr>
          <a:xfrm>
            <a:off x="411480" y="6536436"/>
            <a:ext cx="274320" cy="217246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stCxn id="16" idx="1"/>
            <a:endCxn id="20" idx="1"/>
          </p:cNvCxnSpPr>
          <p:nvPr/>
        </p:nvCxnSpPr>
        <p:spPr>
          <a:xfrm>
            <a:off x="411480" y="6536436"/>
            <a:ext cx="274320" cy="151447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16" idx="1"/>
            <a:endCxn id="19" idx="1"/>
          </p:cNvCxnSpPr>
          <p:nvPr/>
        </p:nvCxnSpPr>
        <p:spPr>
          <a:xfrm>
            <a:off x="411480" y="6536436"/>
            <a:ext cx="274320" cy="76695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13" idx="2"/>
            <a:endCxn id="18" idx="0"/>
          </p:cNvCxnSpPr>
          <p:nvPr/>
        </p:nvCxnSpPr>
        <p:spPr>
          <a:xfrm rot="5400000" flipV="1">
            <a:off x="9770364" y="366293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13" idx="2"/>
            <a:endCxn id="17" idx="0"/>
          </p:cNvCxnSpPr>
          <p:nvPr/>
        </p:nvCxnSpPr>
        <p:spPr>
          <a:xfrm rot="5400000">
            <a:off x="7354062" y="6079236"/>
            <a:ext cx="411480"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13" idx="2"/>
            <a:endCxn id="16" idx="0"/>
          </p:cNvCxnSpPr>
          <p:nvPr/>
        </p:nvCxnSpPr>
        <p:spPr>
          <a:xfrm rot="5400000">
            <a:off x="4937760" y="366293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15" idx="1"/>
            <a:endCxn id="13" idx="3"/>
          </p:cNvCxnSpPr>
          <p:nvPr/>
        </p:nvCxnSpPr>
        <p:spPr>
          <a:xfrm flipH="1">
            <a:off x="10848029" y="5286756"/>
            <a:ext cx="320041"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14" idx="3"/>
            <a:endCxn id="13" idx="1"/>
          </p:cNvCxnSpPr>
          <p:nvPr/>
        </p:nvCxnSpPr>
        <p:spPr>
          <a:xfrm>
            <a:off x="3951533" y="5286756"/>
            <a:ext cx="320040"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 name="Encabezado institucional"/>
          <p:cNvSpPr/>
          <p:nvPr/>
        </p:nvSpPr>
        <p:spPr>
          <a:xfrm>
            <a:off x="0" y="0"/>
            <a:ext cx="15119604" cy="74980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rIns="73152"/>
          <a:lstStyle/>
          <a:p>
            <a:pPr algn="l"/>
            <a:r>
              <a:rPr sz="900" b="1" i="0">
                <a:solidFill>
                  <a:srgbClr val="FFFFFF"/>
                </a:solidFill>
                <a:latin typeface="Arial"/>
              </a:rPr>
              <a:t>AUTORIDAD NACIONAL DE INFRAESTRUCTURA - ANIN  ·  DIME  ·  SUBDIRECCIÓN DE ESTUDIOS DE INVERSIÓN - SESDI</a:t>
            </a:r>
          </a:p>
          <a:p>
            <a:pPr algn="l"/>
            <a:r>
              <a:rPr sz="1620" b="1" i="0">
                <a:solidFill>
                  <a:srgbClr val="FFFFFF"/>
                </a:solidFill>
                <a:latin typeface="Arial"/>
              </a:rPr>
              <a:t>Árbol de problemas unificado – Cuenca alta del río Piura</a:t>
            </a:r>
          </a:p>
          <a:p>
            <a:pPr algn="l"/>
            <a:r>
              <a:rPr sz="960" b="0" i="0">
                <a:solidFill>
                  <a:srgbClr val="FFFFFF"/>
                </a:solidFill>
                <a:latin typeface="Arial"/>
              </a:rPr>
              <a:t>Morropón, Huancabamba y Ayabaca · 15 distritos · 117 bloques · 12,270.24 ha (12,157.47 ha netas V8) · 154 centros poblados (18,651 hab.)</a:t>
            </a:r>
          </a:p>
        </p:txBody>
      </p:sp>
      <p:sp>
        <p:nvSpPr>
          <p:cNvPr id="3" name="Pie de lámina"/>
          <p:cNvSpPr txBox="1"/>
          <p:nvPr/>
        </p:nvSpPr>
        <p:spPr>
          <a:xfrm>
            <a:off x="411480" y="10308031"/>
            <a:ext cx="14296644" cy="274320"/>
          </a:xfrm>
          <a:prstGeom prst="rect">
            <a:avLst/>
          </a:prstGeom>
          <a:noFill/>
        </p:spPr>
        <p:txBody>
          <a:bodyPr wrap="square" lIns="73152" rIns="73152" anchor="ctr">
            <a:spAutoFit/>
          </a:bodyPr>
          <a:lstStyle/>
          <a:p>
            <a:pPr algn="l"/>
            <a:r>
              <a:rPr sz="750" b="0" i="0">
                <a:solidFill>
                  <a:srgbClr val="55677A"/>
                </a:solidFill>
                <a:latin typeface="Arial"/>
              </a:rPr>
              <a:t>ANIN - DIME - SESDI · Proyecto IN Piura · CUI 2669244 · Versión 1.0, 30-oct-2026  ·  Fuentes: Informes E2 Vol. I–III (28 y 30-oct-2026); Matrices E2 B2 (24-oct-2026); Informe EVAR (19-oct-2026); Avance del Perfil (28-oct-2026); modelo ANIN ZZ-000005</a:t>
            </a:r>
          </a:p>
        </p:txBody>
      </p:sp>
      <p:sp>
        <p:nvSpPr>
          <p:cNvPr id="4" name="EF · EF"/>
          <p:cNvSpPr/>
          <p:nvPr/>
        </p:nvSpPr>
        <p:spPr>
          <a:xfrm>
            <a:off x="3127842" y="960120"/>
            <a:ext cx="8863919" cy="1036320"/>
          </a:xfrm>
          <a:prstGeom prst="roundRect">
            <a:avLst>
              <a:gd name="adj" fmla="val 12000"/>
            </a:avLst>
          </a:prstGeom>
          <a:solidFill>
            <a:srgbClr val="8C5A12"/>
          </a:solidFill>
          <a:ln w="12700">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50" b="1" i="0">
                <a:solidFill>
                  <a:srgbClr val="FFFFFF"/>
                </a:solidFill>
                <a:latin typeface="Arial"/>
              </a:rPr>
              <a:t>Incremento de los costos de reconstrucción y disminución de la resiliencia de la población de la cuenca del río Piura y sus medios de vida frente a movimientos en masa e inundaciones desencadenados por eventos climáticos extremos, intensificados por el cambio climático</a:t>
            </a:r>
          </a:p>
        </p:txBody>
      </p:sp>
      <p:sp>
        <p:nvSpPr>
          <p:cNvPr id="5" name="EI1 · EI"/>
          <p:cNvSpPr/>
          <p:nvPr/>
        </p:nvSpPr>
        <p:spPr>
          <a:xfrm>
            <a:off x="411480" y="2380488"/>
            <a:ext cx="2698394" cy="83820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EI1  </a:t>
            </a:r>
            <a:r>
              <a:rPr sz="1225" b="0" i="0">
                <a:solidFill>
                  <a:srgbClr val="1B2733"/>
                </a:solidFill>
                <a:latin typeface="Arial"/>
              </a:rPr>
              <a:t>Interrupción de vías y aislamiento estacional de caseríos, con pérdida de cosechas que no llegan al mercado</a:t>
            </a:r>
          </a:p>
        </p:txBody>
      </p:sp>
      <p:sp>
        <p:nvSpPr>
          <p:cNvPr id="6" name="EI2 · EI"/>
          <p:cNvSpPr/>
          <p:nvPr/>
        </p:nvSpPr>
        <p:spPr>
          <a:xfrm>
            <a:off x="3311042" y="2380488"/>
            <a:ext cx="2698394" cy="83820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EI2  </a:t>
            </a:r>
            <a:r>
              <a:rPr sz="1225" b="0" i="0">
                <a:solidFill>
                  <a:srgbClr val="1B2733"/>
                </a:solidFill>
                <a:latin typeface="Arial"/>
              </a:rPr>
              <a:t>Daños a viviendas, colegios, parcelas, ganado, captaciones y líneas de conducción de agua</a:t>
            </a:r>
          </a:p>
        </p:txBody>
      </p:sp>
      <p:sp>
        <p:nvSpPr>
          <p:cNvPr id="7" name="EI3 · EI"/>
          <p:cNvSpPr/>
          <p:nvPr/>
        </p:nvSpPr>
        <p:spPr>
          <a:xfrm>
            <a:off x="6210604" y="2380488"/>
            <a:ext cx="2698394" cy="83820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EI3  </a:t>
            </a:r>
            <a:r>
              <a:rPr sz="1225" b="0" i="0">
                <a:solidFill>
                  <a:srgbClr val="1B2733"/>
                </a:solidFill>
                <a:latin typeface="Arial"/>
              </a:rPr>
              <a:t>Pérdida de suelo agrícola y de ingresos de la agricultura y la ganadería familiar</a:t>
            </a:r>
          </a:p>
        </p:txBody>
      </p:sp>
      <p:sp>
        <p:nvSpPr>
          <p:cNvPr id="8" name="EI4 · EI"/>
          <p:cNvSpPr/>
          <p:nvPr/>
        </p:nvSpPr>
        <p:spPr>
          <a:xfrm>
            <a:off x="9110167" y="2380488"/>
            <a:ext cx="2698394" cy="83820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EI4  </a:t>
            </a:r>
            <a:r>
              <a:rPr sz="1225" b="0" i="0">
                <a:solidFill>
                  <a:srgbClr val="1B2733"/>
                </a:solidFill>
                <a:latin typeface="Arial"/>
              </a:rPr>
              <a:t>Mayor aporte de sedimentos que colmata quebradas y cauces hacia el valle del Alto Piura (zona de impacto)</a:t>
            </a:r>
          </a:p>
        </p:txBody>
      </p:sp>
      <p:sp>
        <p:nvSpPr>
          <p:cNvPr id="9" name="EI5 · EI"/>
          <p:cNvSpPr/>
          <p:nvPr/>
        </p:nvSpPr>
        <p:spPr>
          <a:xfrm>
            <a:off x="12009729" y="2380488"/>
            <a:ext cx="2698394" cy="83820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EI5  </a:t>
            </a:r>
            <a:r>
              <a:rPr sz="1225" b="0" i="0">
                <a:solidFill>
                  <a:srgbClr val="1B2733"/>
                </a:solidFill>
                <a:latin typeface="Arial"/>
              </a:rPr>
              <a:t>Pérdida de otros servicios del ecosistema: regulación hídrica de fuentes, hábitat de especies amenazadas y captura de carbono</a:t>
            </a:r>
          </a:p>
        </p:txBody>
      </p:sp>
      <p:sp>
        <p:nvSpPr>
          <p:cNvPr id="10" name="ED1 · ED"/>
          <p:cNvSpPr/>
          <p:nvPr/>
        </p:nvSpPr>
        <p:spPr>
          <a:xfrm>
            <a:off x="411480" y="360273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ED1  </a:t>
            </a:r>
            <a:r>
              <a:rPr sz="1300" b="1" i="0">
                <a:solidFill>
                  <a:srgbClr val="1B2733"/>
                </a:solidFill>
                <a:latin typeface="Arial"/>
              </a:rPr>
              <a:t>Mayor ocurrencia de movimientos en masa (deslizamientos, derrumbes, caídas de rocas, reptación) y huaicos en laderas, taludes y quebradas de cabecera</a:t>
            </a:r>
          </a:p>
        </p:txBody>
      </p:sp>
      <p:sp>
        <p:nvSpPr>
          <p:cNvPr id="11" name="ED2 · ED"/>
          <p:cNvSpPr/>
          <p:nvPr/>
        </p:nvSpPr>
        <p:spPr>
          <a:xfrm>
            <a:off x="5244084" y="360273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ED2  </a:t>
            </a:r>
            <a:r>
              <a:rPr sz="1300" b="1" i="0">
                <a:solidFill>
                  <a:srgbClr val="1B2733"/>
                </a:solidFill>
                <a:latin typeface="Arial"/>
              </a:rPr>
              <a:t>Erosión hídrica acelerada y pérdida de suelo (laminar, en surcos y en cárcavas)</a:t>
            </a:r>
          </a:p>
        </p:txBody>
      </p:sp>
      <p:sp>
        <p:nvSpPr>
          <p:cNvPr id="12" name="ED3 · ED"/>
          <p:cNvSpPr/>
          <p:nvPr/>
        </p:nvSpPr>
        <p:spPr>
          <a:xfrm>
            <a:off x="10076688" y="360273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ED3  </a:t>
            </a:r>
            <a:r>
              <a:rPr sz="1300" b="1" i="0">
                <a:solidFill>
                  <a:srgbClr val="1B2733"/>
                </a:solidFill>
                <a:latin typeface="Arial"/>
              </a:rPr>
              <a:t>Mayor escorrentía torrencial y transporte de sedimentos desde las zonas de origen, que activan las quebradas</a:t>
            </a:r>
          </a:p>
        </p:txBody>
      </p:sp>
      <p:sp>
        <p:nvSpPr>
          <p:cNvPr id="13" name="PC · PC"/>
          <p:cNvSpPr/>
          <p:nvPr/>
        </p:nvSpPr>
        <p:spPr>
          <a:xfrm>
            <a:off x="4271573" y="4700016"/>
            <a:ext cx="6576456" cy="1173480"/>
          </a:xfrm>
          <a:prstGeom prst="roundRect">
            <a:avLst>
              <a:gd name="adj" fmla="val 12000"/>
            </a:avLst>
          </a:prstGeom>
          <a:solidFill>
            <a:srgbClr val="1B4F72"/>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FFFFFF"/>
                </a:solidFill>
                <a:latin typeface="Arial"/>
              </a:rPr>
              <a:t>La población de la cuenca alta del río Piura no accede adecuadamente al servicio ecosistémico de regulación de riesgos naturales por la degradación de los ecosistemas en las zonas de origen de movimientos en masa e inundaciones</a:t>
            </a:r>
          </a:p>
        </p:txBody>
      </p:sp>
      <p:sp>
        <p:nvSpPr>
          <p:cNvPr id="14" name="EX1 · EX"/>
          <p:cNvSpPr/>
          <p:nvPr/>
        </p:nvSpPr>
        <p:spPr>
          <a:xfrm>
            <a:off x="411480" y="4700016"/>
            <a:ext cx="3540053" cy="117348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i="0">
                <a:solidFill>
                  <a:srgbClr val="55677A"/>
                </a:solidFill>
                <a:latin typeface="Arial"/>
              </a:rPr>
              <a:t>Factores condicionantes del peligro</a:t>
            </a:r>
          </a:p>
          <a:p>
            <a:pPr algn="l"/>
            <a:r>
              <a:rPr sz="1100" b="0" i="0">
                <a:solidFill>
                  <a:srgbClr val="55677A"/>
                </a:solidFill>
                <a:latin typeface="Arial"/>
              </a:rPr>
              <a:t>Pendientes fuertes (media 41 %; 822.9 ha sobre 75 %), relieve montañoso y vertientes coluviales (88.1 % de los bloques en geomorfología de nivel 4–5) y litologías meteorizadas o foliadas.</a:t>
            </a:r>
          </a:p>
        </p:txBody>
      </p:sp>
      <p:sp>
        <p:nvSpPr>
          <p:cNvPr id="15" name="EX2 · EX"/>
          <p:cNvSpPr/>
          <p:nvPr/>
        </p:nvSpPr>
        <p:spPr>
          <a:xfrm>
            <a:off x="11168070" y="4700016"/>
            <a:ext cx="3540053" cy="117348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i="0">
                <a:solidFill>
                  <a:srgbClr val="55677A"/>
                </a:solidFill>
                <a:latin typeface="Arial"/>
              </a:rPr>
              <a:t>Factor desencadenante y cambio climático</a:t>
            </a:r>
          </a:p>
          <a:p>
            <a:pPr algn="l"/>
            <a:r>
              <a:rPr sz="1100" b="0" i="0">
                <a:solidFill>
                  <a:srgbClr val="55677A"/>
                </a:solidFill>
                <a:latin typeface="Arial"/>
              </a:rPr>
              <a:t>Lluvias de El Niño 1983, 1998, 2017 y 2023 de 2 a 6 veces la media; régimen semiárido (544 mm/año, aridez 0.34) con 82–93 % de la lluvia entre enero y abril; calentamiento de +0.15 a +0.25 °C por década.</a:t>
            </a:r>
          </a:p>
        </p:txBody>
      </p:sp>
      <p:sp>
        <p:nvSpPr>
          <p:cNvPr id="16" name="CD1 · CD"/>
          <p:cNvSpPr/>
          <p:nvPr/>
        </p:nvSpPr>
        <p:spPr>
          <a:xfrm>
            <a:off x="411480" y="628497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CD1  </a:t>
            </a:r>
            <a:r>
              <a:rPr sz="1300" b="1" i="0">
                <a:solidFill>
                  <a:srgbClr val="1B2733"/>
                </a:solidFill>
                <a:latin typeface="Arial"/>
              </a:rPr>
              <a:t>Degradación de la cobertura vegetal protectora en las zonas de origen</a:t>
            </a:r>
          </a:p>
        </p:txBody>
      </p:sp>
      <p:sp>
        <p:nvSpPr>
          <p:cNvPr id="17" name="CD2 · CD"/>
          <p:cNvSpPr/>
          <p:nvPr/>
        </p:nvSpPr>
        <p:spPr>
          <a:xfrm>
            <a:off x="5244084" y="628497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CD2  </a:t>
            </a:r>
            <a:r>
              <a:rPr sz="1300" b="1" i="0">
                <a:solidFill>
                  <a:srgbClr val="1B2733"/>
                </a:solidFill>
                <a:latin typeface="Arial"/>
              </a:rPr>
              <a:t>Reducida capacidad de los suelos y laderas para controlar la erosión y la escorrentía</a:t>
            </a:r>
          </a:p>
        </p:txBody>
      </p:sp>
      <p:sp>
        <p:nvSpPr>
          <p:cNvPr id="18" name="CD3 · CD"/>
          <p:cNvSpPr/>
          <p:nvPr/>
        </p:nvSpPr>
        <p:spPr>
          <a:xfrm>
            <a:off x="10076688" y="628497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CD3  </a:t>
            </a:r>
            <a:r>
              <a:rPr sz="1300" b="1" i="0">
                <a:solidFill>
                  <a:srgbClr val="1B2733"/>
                </a:solidFill>
                <a:latin typeface="Arial"/>
              </a:rPr>
              <a:t>Inadecuada gobernanza y gestión local del ecosistema y del riesgo</a:t>
            </a:r>
          </a:p>
        </p:txBody>
      </p:sp>
      <p:sp>
        <p:nvSpPr>
          <p:cNvPr id="19" name="CI1.1 · CI"/>
          <p:cNvSpPr/>
          <p:nvPr/>
        </p:nvSpPr>
        <p:spPr>
          <a:xfrm>
            <a:off x="685800" y="6989064"/>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CI1.1  </a:t>
            </a:r>
            <a:r>
              <a:rPr sz="1175" b="0" i="0">
                <a:solidFill>
                  <a:srgbClr val="1B2733"/>
                </a:solidFill>
                <a:latin typeface="Arial"/>
              </a:rPr>
              <a:t>Sobrepastoreo caprino y vacuno sin manejo, que impide la regeneración natural</a:t>
            </a:r>
          </a:p>
        </p:txBody>
      </p:sp>
      <p:sp>
        <p:nvSpPr>
          <p:cNvPr id="20" name="CI1.2 · CI"/>
          <p:cNvSpPr/>
          <p:nvPr/>
        </p:nvSpPr>
        <p:spPr>
          <a:xfrm>
            <a:off x="685800" y="773658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CI1.2  </a:t>
            </a:r>
            <a:r>
              <a:rPr sz="1175" b="0" i="0">
                <a:solidFill>
                  <a:srgbClr val="1B2733"/>
                </a:solidFill>
                <a:latin typeface="Arial"/>
              </a:rPr>
              <a:t>Tala y extracción selectiva de madera y leña de especies nativas, incluidas especies en peligro crítico</a:t>
            </a:r>
          </a:p>
        </p:txBody>
      </p:sp>
      <p:sp>
        <p:nvSpPr>
          <p:cNvPr id="21" name="CI1.3 · CI"/>
          <p:cNvSpPr/>
          <p:nvPr/>
        </p:nvSpPr>
        <p:spPr>
          <a:xfrm>
            <a:off x="685800" y="848410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CI1.3  </a:t>
            </a:r>
            <a:r>
              <a:rPr sz="1175" b="0" i="0">
                <a:solidFill>
                  <a:srgbClr val="1B2733"/>
                </a:solidFill>
                <a:latin typeface="Arial"/>
              </a:rPr>
              <a:t>Expansión de la agricultura y de la ocupación hacia laderas de fuerte pendiente y cauces</a:t>
            </a:r>
          </a:p>
        </p:txBody>
      </p:sp>
      <p:sp>
        <p:nvSpPr>
          <p:cNvPr id="22" name="CI1.4 · CI"/>
          <p:cNvSpPr/>
          <p:nvPr/>
        </p:nvSpPr>
        <p:spPr>
          <a:xfrm>
            <a:off x="685800" y="9052559"/>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CI1.4  </a:t>
            </a:r>
            <a:r>
              <a:rPr sz="1175" b="0" i="0">
                <a:solidFill>
                  <a:srgbClr val="1B2733"/>
                </a:solidFill>
                <a:latin typeface="Arial"/>
              </a:rPr>
              <a:t>Baja capacidad de regeneración natural por aridez, sequías recurrentes, quemas y especies exóticas</a:t>
            </a:r>
          </a:p>
        </p:txBody>
      </p:sp>
      <p:sp>
        <p:nvSpPr>
          <p:cNvPr id="23" name="CI2.1 · CI"/>
          <p:cNvSpPr/>
          <p:nvPr/>
        </p:nvSpPr>
        <p:spPr>
          <a:xfrm>
            <a:off x="5518404" y="6989064"/>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CI2.1  </a:t>
            </a:r>
            <a:r>
              <a:rPr sz="1175" b="0" i="0">
                <a:solidFill>
                  <a:srgbClr val="1B2733"/>
                </a:solidFill>
                <a:latin typeface="Arial"/>
              </a:rPr>
              <a:t>Trochas, vías y canteras con cortes de talud sin drenaje ni estabilización</a:t>
            </a:r>
          </a:p>
        </p:txBody>
      </p:sp>
      <p:sp>
        <p:nvSpPr>
          <p:cNvPr id="24" name="CI2.2 · CI"/>
          <p:cNvSpPr/>
          <p:nvPr/>
        </p:nvSpPr>
        <p:spPr>
          <a:xfrm>
            <a:off x="5518404" y="773658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CI2.2  </a:t>
            </a:r>
            <a:r>
              <a:rPr sz="1175" b="0" i="0">
                <a:solidFill>
                  <a:srgbClr val="1B2733"/>
                </a:solidFill>
                <a:latin typeface="Arial"/>
              </a:rPr>
              <a:t>Laderas cultivadas sin prácticas de conservación de suelos y cárcavas activas sin control</a:t>
            </a:r>
          </a:p>
        </p:txBody>
      </p:sp>
      <p:sp>
        <p:nvSpPr>
          <p:cNvPr id="25" name="CI2.3 · CI"/>
          <p:cNvSpPr/>
          <p:nvPr/>
        </p:nvSpPr>
        <p:spPr>
          <a:xfrm>
            <a:off x="5518404" y="848410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CI2.3  </a:t>
            </a:r>
            <a:r>
              <a:rPr sz="1175" b="0" i="0">
                <a:solidFill>
                  <a:srgbClr val="1B2733"/>
                </a:solidFill>
                <a:latin typeface="Arial"/>
              </a:rPr>
              <a:t>Pisoteo del ganado y senderos que compactan suelos someros y concentran la escorrentía</a:t>
            </a:r>
          </a:p>
        </p:txBody>
      </p:sp>
      <p:sp>
        <p:nvSpPr>
          <p:cNvPr id="26" name="CI3.1 · CI"/>
          <p:cNvSpPr/>
          <p:nvPr/>
        </p:nvSpPr>
        <p:spPr>
          <a:xfrm>
            <a:off x="10351008" y="6989064"/>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CI3.1  </a:t>
            </a:r>
            <a:r>
              <a:rPr sz="1175" b="0" i="0">
                <a:solidFill>
                  <a:srgbClr val="1B2733"/>
                </a:solidFill>
                <a:latin typeface="Arial"/>
              </a:rPr>
              <a:t>Limitado conocimiento y organización de las comunidades locales para el manejo del ecosistema, la adaptación al cambio climático y la gestión del riesgo</a:t>
            </a:r>
          </a:p>
        </p:txBody>
      </p:sp>
      <p:sp>
        <p:nvSpPr>
          <p:cNvPr id="27" name="CI3.2 · CI"/>
          <p:cNvSpPr/>
          <p:nvPr/>
        </p:nvSpPr>
        <p:spPr>
          <a:xfrm>
            <a:off x="10351008" y="773658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CI3.2  </a:t>
            </a:r>
            <a:r>
              <a:rPr sz="1175" b="0" i="0">
                <a:solidFill>
                  <a:srgbClr val="1B2733"/>
                </a:solidFill>
                <a:latin typeface="Arial"/>
              </a:rPr>
              <a:t>Limitada gobernanza de las entidades públicas y privadas: sin concertación, con escasa presencia institucional y desconfianza por intervenciones incumplidas</a:t>
            </a:r>
          </a:p>
        </p:txBody>
      </p:sp>
      <p:sp>
        <p:nvSpPr>
          <p:cNvPr id="28" name="CI3.3 · CI"/>
          <p:cNvSpPr/>
          <p:nvPr/>
        </p:nvSpPr>
        <p:spPr>
          <a:xfrm>
            <a:off x="10351008" y="848410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CI3.3  </a:t>
            </a:r>
            <a:r>
              <a:rPr sz="1175" b="0" i="0">
                <a:solidFill>
                  <a:srgbClr val="1B2733"/>
                </a:solidFill>
                <a:latin typeface="Arial"/>
              </a:rPr>
              <a:t>Tenencia de la tierra sin sanear: tierras sin registro, posesión informal y conflictos de linderos</a:t>
            </a:r>
          </a:p>
        </p:txBody>
      </p:sp>
      <p:sp>
        <p:nvSpPr>
          <p:cNvPr id="59" name="Rectangle 58"/>
          <p:cNvSpPr/>
          <p:nvPr/>
        </p:nvSpPr>
        <p:spPr>
          <a:xfrm>
            <a:off x="411480" y="9648444"/>
            <a:ext cx="164592" cy="118872"/>
          </a:xfrm>
          <a:prstGeom prst="rect">
            <a:avLst/>
          </a:prstGeom>
          <a:solidFill>
            <a:srgbClr val="8C5A12"/>
          </a:solidFill>
          <a:ln>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2648" y="9611868"/>
            <a:ext cx="604504" cy="201168"/>
          </a:xfrm>
          <a:prstGeom prst="rect">
            <a:avLst/>
          </a:prstGeom>
          <a:noFill/>
        </p:spPr>
        <p:txBody>
          <a:bodyPr wrap="square" lIns="0" rIns="0" anchor="ctr">
            <a:spAutoFit/>
          </a:bodyPr>
          <a:lstStyle/>
          <a:p>
            <a:pPr algn="l"/>
            <a:r>
              <a:rPr sz="750" b="0" i="0">
                <a:solidFill>
                  <a:srgbClr val="55677A"/>
                </a:solidFill>
                <a:latin typeface="Arial"/>
              </a:rPr>
              <a:t>Efecto final</a:t>
            </a:r>
          </a:p>
        </p:txBody>
      </p:sp>
      <p:sp>
        <p:nvSpPr>
          <p:cNvPr id="61" name="Rectangle 60"/>
          <p:cNvSpPr/>
          <p:nvPr/>
        </p:nvSpPr>
        <p:spPr>
          <a:xfrm>
            <a:off x="1400032" y="9648444"/>
            <a:ext cx="164592" cy="118872"/>
          </a:xfrm>
          <a:prstGeom prst="rect">
            <a:avLst/>
          </a:prstGeom>
          <a:solidFill>
            <a:srgbClr val="FBF3E2"/>
          </a:solidFill>
          <a:ln>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601200" y="9611868"/>
            <a:ext cx="788289" cy="201168"/>
          </a:xfrm>
          <a:prstGeom prst="rect">
            <a:avLst/>
          </a:prstGeom>
          <a:noFill/>
        </p:spPr>
        <p:txBody>
          <a:bodyPr wrap="square" lIns="0" rIns="0" anchor="ctr">
            <a:spAutoFit/>
          </a:bodyPr>
          <a:lstStyle/>
          <a:p>
            <a:pPr algn="l"/>
            <a:r>
              <a:rPr sz="750" b="0" i="0">
                <a:solidFill>
                  <a:srgbClr val="55677A"/>
                </a:solidFill>
                <a:latin typeface="Arial"/>
              </a:rPr>
              <a:t>Efecto indirecto</a:t>
            </a:r>
          </a:p>
        </p:txBody>
      </p:sp>
      <p:sp>
        <p:nvSpPr>
          <p:cNvPr id="63" name="Rectangle 62"/>
          <p:cNvSpPr/>
          <p:nvPr/>
        </p:nvSpPr>
        <p:spPr>
          <a:xfrm>
            <a:off x="2572369" y="9648444"/>
            <a:ext cx="164592" cy="118872"/>
          </a:xfrm>
          <a:prstGeom prst="rect">
            <a:avLst/>
          </a:prstGeom>
          <a:solidFill>
            <a:srgbClr val="F6E7C8"/>
          </a:solidFill>
          <a:ln>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73537" y="9611868"/>
            <a:ext cx="714756" cy="201168"/>
          </a:xfrm>
          <a:prstGeom prst="rect">
            <a:avLst/>
          </a:prstGeom>
          <a:noFill/>
        </p:spPr>
        <p:txBody>
          <a:bodyPr wrap="square" lIns="0" rIns="0" anchor="ctr">
            <a:spAutoFit/>
          </a:bodyPr>
          <a:lstStyle/>
          <a:p>
            <a:pPr algn="l"/>
            <a:r>
              <a:rPr sz="750" b="0" i="0">
                <a:solidFill>
                  <a:srgbClr val="55677A"/>
                </a:solidFill>
                <a:latin typeface="Arial"/>
              </a:rPr>
              <a:t>Efecto directo</a:t>
            </a:r>
          </a:p>
        </p:txBody>
      </p:sp>
      <p:sp>
        <p:nvSpPr>
          <p:cNvPr id="65" name="Rectangle 64"/>
          <p:cNvSpPr/>
          <p:nvPr/>
        </p:nvSpPr>
        <p:spPr>
          <a:xfrm>
            <a:off x="3671173" y="9648444"/>
            <a:ext cx="164592" cy="118872"/>
          </a:xfrm>
          <a:prstGeom prst="rect">
            <a:avLst/>
          </a:prstGeom>
          <a:solidFill>
            <a:srgbClr val="1B4F72"/>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72341" y="9611868"/>
            <a:ext cx="851296" cy="201168"/>
          </a:xfrm>
          <a:prstGeom prst="rect">
            <a:avLst/>
          </a:prstGeom>
          <a:noFill/>
        </p:spPr>
        <p:txBody>
          <a:bodyPr wrap="square" lIns="0" rIns="0" anchor="ctr">
            <a:spAutoFit/>
          </a:bodyPr>
          <a:lstStyle/>
          <a:p>
            <a:pPr algn="l"/>
            <a:r>
              <a:rPr sz="750" b="0" i="0">
                <a:solidFill>
                  <a:srgbClr val="55677A"/>
                </a:solidFill>
                <a:latin typeface="Arial"/>
              </a:rPr>
              <a:t>Problema central</a:t>
            </a:r>
          </a:p>
        </p:txBody>
      </p:sp>
      <p:sp>
        <p:nvSpPr>
          <p:cNvPr id="67" name="Rectangle 66"/>
          <p:cNvSpPr/>
          <p:nvPr/>
        </p:nvSpPr>
        <p:spPr>
          <a:xfrm>
            <a:off x="4906517" y="9648444"/>
            <a:ext cx="164592" cy="118872"/>
          </a:xfrm>
          <a:prstGeom prst="rect">
            <a:avLst/>
          </a:prstGeom>
          <a:solidFill>
            <a:srgbClr val="E5EEF6"/>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107685" y="9611868"/>
            <a:ext cx="720042" cy="201168"/>
          </a:xfrm>
          <a:prstGeom prst="rect">
            <a:avLst/>
          </a:prstGeom>
          <a:noFill/>
        </p:spPr>
        <p:txBody>
          <a:bodyPr wrap="square" lIns="0" rIns="0" anchor="ctr">
            <a:spAutoFit/>
          </a:bodyPr>
          <a:lstStyle/>
          <a:p>
            <a:pPr algn="l"/>
            <a:r>
              <a:rPr sz="750" b="0" i="0">
                <a:solidFill>
                  <a:srgbClr val="55677A"/>
                </a:solidFill>
                <a:latin typeface="Arial"/>
              </a:rPr>
              <a:t>Causa directa</a:t>
            </a:r>
          </a:p>
        </p:txBody>
      </p:sp>
      <p:sp>
        <p:nvSpPr>
          <p:cNvPr id="69" name="Rectangle 68"/>
          <p:cNvSpPr/>
          <p:nvPr/>
        </p:nvSpPr>
        <p:spPr>
          <a:xfrm>
            <a:off x="6010608" y="9648444"/>
            <a:ext cx="164592" cy="118872"/>
          </a:xfrm>
          <a:prstGeom prst="rect">
            <a:avLst/>
          </a:prstGeom>
          <a:solidFill>
            <a:srgbClr val="F3F7FA"/>
          </a:solidFill>
          <a:ln>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11776" y="9611868"/>
            <a:ext cx="793575" cy="201168"/>
          </a:xfrm>
          <a:prstGeom prst="rect">
            <a:avLst/>
          </a:prstGeom>
          <a:noFill/>
        </p:spPr>
        <p:txBody>
          <a:bodyPr wrap="square" lIns="0" rIns="0" anchor="ctr">
            <a:spAutoFit/>
          </a:bodyPr>
          <a:lstStyle/>
          <a:p>
            <a:pPr algn="l"/>
            <a:r>
              <a:rPr sz="750" b="0" i="0">
                <a:solidFill>
                  <a:srgbClr val="55677A"/>
                </a:solidFill>
                <a:latin typeface="Arial"/>
              </a:rPr>
              <a:t>Causa indirecta</a:t>
            </a:r>
          </a:p>
        </p:txBody>
      </p:sp>
      <p:sp>
        <p:nvSpPr>
          <p:cNvPr id="71" name="Rectangle 70"/>
          <p:cNvSpPr/>
          <p:nvPr/>
        </p:nvSpPr>
        <p:spPr>
          <a:xfrm>
            <a:off x="7188231" y="9648444"/>
            <a:ext cx="164592" cy="118872"/>
          </a:xfrm>
          <a:prstGeom prst="rect">
            <a:avLst/>
          </a:prstGeom>
          <a:solidFill>
            <a:srgbClr val="FFFFFF"/>
          </a:solidFill>
          <a:ln>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389399" y="9611868"/>
            <a:ext cx="2295429" cy="201168"/>
          </a:xfrm>
          <a:prstGeom prst="rect">
            <a:avLst/>
          </a:prstGeom>
          <a:noFill/>
        </p:spPr>
        <p:txBody>
          <a:bodyPr wrap="square" lIns="0" rIns="0" anchor="ctr">
            <a:spAutoFit/>
          </a:bodyPr>
          <a:lstStyle/>
          <a:p>
            <a:pPr algn="l"/>
            <a:r>
              <a:rPr sz="750" b="0" i="0">
                <a:solidFill>
                  <a:srgbClr val="55677A"/>
                </a:solidFill>
                <a:latin typeface="Arial"/>
              </a:rPr>
              <a:t>Factor exógeno de peligro (no controlable por el 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5" name="Connector 54"/>
          <p:cNvCxnSpPr>
            <a:stCxn id="4" idx="2"/>
            <a:endCxn id="8" idx="0"/>
          </p:cNvCxnSpPr>
          <p:nvPr/>
        </p:nvCxnSpPr>
        <p:spPr>
          <a:xfrm rot="5400000" flipV="1">
            <a:off x="10086117" y="-766095"/>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a:stCxn id="8" idx="2"/>
            <a:endCxn id="11" idx="0"/>
          </p:cNvCxnSpPr>
          <p:nvPr/>
        </p:nvCxnSpPr>
        <p:spPr>
          <a:xfrm rot="5400000">
            <a:off x="12502419" y="2685764"/>
            <a:ext cx="384048"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a:stCxn id="8" idx="2"/>
            <a:endCxn id="10" idx="0"/>
          </p:cNvCxnSpPr>
          <p:nvPr/>
        </p:nvCxnSpPr>
        <p:spPr>
          <a:xfrm rot="5400000">
            <a:off x="10086117" y="269462"/>
            <a:ext cx="384048"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a:stCxn id="4" idx="2"/>
            <a:endCxn id="7" idx="0"/>
          </p:cNvCxnSpPr>
          <p:nvPr/>
        </p:nvCxnSpPr>
        <p:spPr>
          <a:xfrm rot="5400000" flipV="1">
            <a:off x="8273891" y="1046130"/>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a:stCxn id="7" idx="2"/>
            <a:endCxn id="11" idx="0"/>
          </p:cNvCxnSpPr>
          <p:nvPr/>
        </p:nvCxnSpPr>
        <p:spPr>
          <a:xfrm rot="5400000" flipV="1">
            <a:off x="10690193" y="1477613"/>
            <a:ext cx="384048" cy="3020377"/>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a:stCxn id="4" idx="2"/>
            <a:endCxn id="6" idx="0"/>
          </p:cNvCxnSpPr>
          <p:nvPr/>
        </p:nvCxnSpPr>
        <p:spPr>
          <a:xfrm rot="5400000">
            <a:off x="6461664" y="1046130"/>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a:stCxn id="6" idx="2"/>
            <a:endCxn id="10" idx="0"/>
          </p:cNvCxnSpPr>
          <p:nvPr/>
        </p:nvCxnSpPr>
        <p:spPr>
          <a:xfrm rot="5400000" flipV="1">
            <a:off x="6461664" y="2081688"/>
            <a:ext cx="384048"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a:stCxn id="4" idx="2"/>
            <a:endCxn id="5" idx="0"/>
          </p:cNvCxnSpPr>
          <p:nvPr/>
        </p:nvCxnSpPr>
        <p:spPr>
          <a:xfrm rot="5400000">
            <a:off x="4649438" y="-766095"/>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a:stCxn id="5" idx="2"/>
            <a:endCxn id="11" idx="0"/>
          </p:cNvCxnSpPr>
          <p:nvPr/>
        </p:nvCxnSpPr>
        <p:spPr>
          <a:xfrm rot="5400000" flipV="1">
            <a:off x="7065740" y="-2146839"/>
            <a:ext cx="384048" cy="10269283"/>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a:stCxn id="5" idx="2"/>
            <a:endCxn id="9" idx="0"/>
          </p:cNvCxnSpPr>
          <p:nvPr/>
        </p:nvCxnSpPr>
        <p:spPr>
          <a:xfrm rot="5400000" flipV="1">
            <a:off x="2233136" y="2685764"/>
            <a:ext cx="384048"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11" idx="2"/>
            <a:endCxn id="12" idx="0"/>
          </p:cNvCxnSpPr>
          <p:nvPr/>
        </p:nvCxnSpPr>
        <p:spPr>
          <a:xfrm rot="5400000">
            <a:off x="9770364" y="165506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10" idx="2"/>
            <a:endCxn id="12" idx="0"/>
          </p:cNvCxnSpPr>
          <p:nvPr/>
        </p:nvCxnSpPr>
        <p:spPr>
          <a:xfrm rot="5400000">
            <a:off x="7354062" y="4071366"/>
            <a:ext cx="411480"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9" idx="2"/>
            <a:endCxn id="12" idx="0"/>
          </p:cNvCxnSpPr>
          <p:nvPr/>
        </p:nvCxnSpPr>
        <p:spPr>
          <a:xfrm rot="5400000" flipV="1">
            <a:off x="4937760" y="165506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17" idx="1"/>
            <a:endCxn id="27" idx="1"/>
          </p:cNvCxnSpPr>
          <p:nvPr/>
        </p:nvCxnSpPr>
        <p:spPr>
          <a:xfrm>
            <a:off x="10076688" y="6631686"/>
            <a:ext cx="274320" cy="199339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17" idx="1"/>
            <a:endCxn id="26" idx="1"/>
          </p:cNvCxnSpPr>
          <p:nvPr/>
        </p:nvCxnSpPr>
        <p:spPr>
          <a:xfrm>
            <a:off x="10076688" y="6631686"/>
            <a:ext cx="274320" cy="133540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a:stCxn id="17" idx="1"/>
            <a:endCxn id="25" idx="1"/>
          </p:cNvCxnSpPr>
          <p:nvPr/>
        </p:nvCxnSpPr>
        <p:spPr>
          <a:xfrm>
            <a:off x="10076688" y="6631686"/>
            <a:ext cx="274320" cy="67741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16" idx="1"/>
            <a:endCxn id="24" idx="1"/>
          </p:cNvCxnSpPr>
          <p:nvPr/>
        </p:nvCxnSpPr>
        <p:spPr>
          <a:xfrm>
            <a:off x="5244084" y="6631686"/>
            <a:ext cx="274320" cy="199339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a:stCxn id="16" idx="1"/>
            <a:endCxn id="23" idx="1"/>
          </p:cNvCxnSpPr>
          <p:nvPr/>
        </p:nvCxnSpPr>
        <p:spPr>
          <a:xfrm>
            <a:off x="5244084" y="6631686"/>
            <a:ext cx="274320" cy="133540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a:stCxn id="16" idx="1"/>
            <a:endCxn id="22" idx="1"/>
          </p:cNvCxnSpPr>
          <p:nvPr/>
        </p:nvCxnSpPr>
        <p:spPr>
          <a:xfrm>
            <a:off x="5244084" y="6631686"/>
            <a:ext cx="274320" cy="67741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15" idx="1"/>
            <a:endCxn id="21" idx="1"/>
          </p:cNvCxnSpPr>
          <p:nvPr/>
        </p:nvCxnSpPr>
        <p:spPr>
          <a:xfrm>
            <a:off x="411480" y="6631686"/>
            <a:ext cx="274320" cy="256184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stCxn id="15" idx="1"/>
            <a:endCxn id="20" idx="1"/>
          </p:cNvCxnSpPr>
          <p:nvPr/>
        </p:nvCxnSpPr>
        <p:spPr>
          <a:xfrm>
            <a:off x="411480" y="6631686"/>
            <a:ext cx="274320" cy="199339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15" idx="1"/>
            <a:endCxn id="19" idx="1"/>
          </p:cNvCxnSpPr>
          <p:nvPr/>
        </p:nvCxnSpPr>
        <p:spPr>
          <a:xfrm>
            <a:off x="411480" y="6631686"/>
            <a:ext cx="274320" cy="133540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15" idx="1"/>
            <a:endCxn id="18" idx="1"/>
          </p:cNvCxnSpPr>
          <p:nvPr/>
        </p:nvCxnSpPr>
        <p:spPr>
          <a:xfrm>
            <a:off x="411480" y="6631686"/>
            <a:ext cx="274320" cy="67741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12" idx="2"/>
            <a:endCxn id="17" idx="0"/>
          </p:cNvCxnSpPr>
          <p:nvPr/>
        </p:nvCxnSpPr>
        <p:spPr>
          <a:xfrm rot="5400000" flipV="1">
            <a:off x="9770363" y="375818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12" idx="2"/>
            <a:endCxn id="16" idx="0"/>
          </p:cNvCxnSpPr>
          <p:nvPr/>
        </p:nvCxnSpPr>
        <p:spPr>
          <a:xfrm rot="5400000">
            <a:off x="7354062" y="6174486"/>
            <a:ext cx="411480"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12" idx="2"/>
            <a:endCxn id="15" idx="0"/>
          </p:cNvCxnSpPr>
          <p:nvPr/>
        </p:nvCxnSpPr>
        <p:spPr>
          <a:xfrm rot="5400000">
            <a:off x="4937759" y="375818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14" idx="1"/>
            <a:endCxn id="12" idx="3"/>
          </p:cNvCxnSpPr>
          <p:nvPr/>
        </p:nvCxnSpPr>
        <p:spPr>
          <a:xfrm flipH="1">
            <a:off x="10848029" y="5122926"/>
            <a:ext cx="320041"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a:stCxn id="13" idx="3"/>
            <a:endCxn id="12" idx="1"/>
          </p:cNvCxnSpPr>
          <p:nvPr/>
        </p:nvCxnSpPr>
        <p:spPr>
          <a:xfrm>
            <a:off x="3951533" y="5122926"/>
            <a:ext cx="320040"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 name="Encabezado institucional"/>
          <p:cNvSpPr/>
          <p:nvPr/>
        </p:nvSpPr>
        <p:spPr>
          <a:xfrm>
            <a:off x="0" y="0"/>
            <a:ext cx="15119604" cy="74980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rIns="73152"/>
          <a:lstStyle/>
          <a:p>
            <a:pPr algn="l"/>
            <a:r>
              <a:rPr sz="900" b="1" i="0">
                <a:solidFill>
                  <a:srgbClr val="FFFFFF"/>
                </a:solidFill>
                <a:latin typeface="Arial"/>
              </a:rPr>
              <a:t>AUTORIDAD NACIONAL DE INFRAESTRUCTURA - ANIN  ·  DIME  ·  SUBDIRECCIÓN DE ESTUDIOS DE INVERSIÓN - SESDI</a:t>
            </a:r>
          </a:p>
          <a:p>
            <a:pPr algn="l"/>
            <a:r>
              <a:rPr sz="1620" b="1" i="0">
                <a:solidFill>
                  <a:srgbClr val="FFFFFF"/>
                </a:solidFill>
                <a:latin typeface="Arial"/>
              </a:rPr>
              <a:t>Árbol de problemas – Provincia de Morropón</a:t>
            </a:r>
          </a:p>
          <a:p>
            <a:pPr algn="l"/>
            <a:r>
              <a:rPr sz="960" b="0" i="0">
                <a:solidFill>
                  <a:srgbClr val="FFFFFF"/>
                </a:solidFill>
                <a:latin typeface="Arial"/>
              </a:rPr>
              <a:t>Buenos Aires, Chalaco, Chulucanas, Morropón, Salitral, San Juan de Bigote, Santa Catalina de Mossa, Santo Domingo y Yamango · 59 bloques · 7,327.37 ha (7,313.55 ha netas V8) · 79 centros poblados (9,537 hab.)</a:t>
            </a:r>
          </a:p>
        </p:txBody>
      </p:sp>
      <p:sp>
        <p:nvSpPr>
          <p:cNvPr id="3" name="Pie de lámina"/>
          <p:cNvSpPr txBox="1"/>
          <p:nvPr/>
        </p:nvSpPr>
        <p:spPr>
          <a:xfrm>
            <a:off x="411480" y="10308031"/>
            <a:ext cx="14296644" cy="274320"/>
          </a:xfrm>
          <a:prstGeom prst="rect">
            <a:avLst/>
          </a:prstGeom>
          <a:noFill/>
        </p:spPr>
        <p:txBody>
          <a:bodyPr wrap="square" lIns="73152" rIns="73152" anchor="ctr">
            <a:spAutoFit/>
          </a:bodyPr>
          <a:lstStyle/>
          <a:p>
            <a:pPr algn="l"/>
            <a:r>
              <a:rPr sz="750" b="0" i="0">
                <a:solidFill>
                  <a:srgbClr val="55677A"/>
                </a:solidFill>
                <a:latin typeface="Arial"/>
              </a:rPr>
              <a:t>ANIN - DIME - SESDI · Proyecto IN Piura · CUI 2669244 · Versión 1.0, 30-oct-2026  ·  Fuentes: Informe E2 Vol. I Morropón (28-oct-2026); Diagnóstico Morropón V5; Informe EVAR (19-oct-2026); Avance del Perfil (28-oct-2026)</a:t>
            </a:r>
          </a:p>
        </p:txBody>
      </p:sp>
      <p:sp>
        <p:nvSpPr>
          <p:cNvPr id="4" name="EF · EF"/>
          <p:cNvSpPr/>
          <p:nvPr/>
        </p:nvSpPr>
        <p:spPr>
          <a:xfrm>
            <a:off x="3127842" y="960120"/>
            <a:ext cx="8863919" cy="800099"/>
          </a:xfrm>
          <a:prstGeom prst="roundRect">
            <a:avLst>
              <a:gd name="adj" fmla="val 12000"/>
            </a:avLst>
          </a:prstGeom>
          <a:solidFill>
            <a:srgbClr val="8C5A12"/>
          </a:solidFill>
          <a:ln w="12700">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50" b="1" i="0">
                <a:solidFill>
                  <a:srgbClr val="FFFFFF"/>
                </a:solidFill>
                <a:latin typeface="Arial"/>
              </a:rPr>
              <a:t>Incremento de los costos de reconstrucción y disminución de la resiliencia de la población de Morropón y sus medios de vida frente a huaicos, movimientos en masa e inundaciones desencadenados por lluvias extremas, intensificadas por el cambio climático</a:t>
            </a:r>
          </a:p>
        </p:txBody>
      </p:sp>
      <p:sp>
        <p:nvSpPr>
          <p:cNvPr id="5" name="EI1 · EI"/>
          <p:cNvSpPr/>
          <p:nvPr/>
        </p:nvSpPr>
        <p:spPr>
          <a:xfrm>
            <a:off x="411480" y="2144268"/>
            <a:ext cx="3423285" cy="65151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EI1  </a:t>
            </a:r>
            <a:r>
              <a:rPr sz="1225" b="0" i="0">
                <a:solidFill>
                  <a:srgbClr val="1B2733"/>
                </a:solidFill>
                <a:latin typeface="Arial"/>
              </a:rPr>
              <a:t>Daños a viviendas, colegios, vías, badenes y captaciones de agua en los centros poblados de cabecera</a:t>
            </a:r>
          </a:p>
        </p:txBody>
      </p:sp>
      <p:sp>
        <p:nvSpPr>
          <p:cNvPr id="6" name="EI2 · EI"/>
          <p:cNvSpPr/>
          <p:nvPr/>
        </p:nvSpPr>
        <p:spPr>
          <a:xfrm>
            <a:off x="4035933" y="2144268"/>
            <a:ext cx="3423285" cy="65151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EI2  </a:t>
            </a:r>
            <a:r>
              <a:rPr sz="1225" b="0" i="0">
                <a:solidFill>
                  <a:srgbClr val="1B2733"/>
                </a:solidFill>
                <a:latin typeface="Arial"/>
              </a:rPr>
              <a:t>Pérdida de suelo agrícola y de ingresos agropecuarios</a:t>
            </a:r>
          </a:p>
        </p:txBody>
      </p:sp>
      <p:sp>
        <p:nvSpPr>
          <p:cNvPr id="7" name="EI3 · EI"/>
          <p:cNvSpPr/>
          <p:nvPr/>
        </p:nvSpPr>
        <p:spPr>
          <a:xfrm>
            <a:off x="7660386" y="2144268"/>
            <a:ext cx="3423285" cy="65151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EI3  </a:t>
            </a:r>
            <a:r>
              <a:rPr sz="1225" b="0" i="0">
                <a:solidFill>
                  <a:srgbClr val="1B2733"/>
                </a:solidFill>
                <a:latin typeface="Arial"/>
              </a:rPr>
              <a:t>Inundación de parcelas, arrastre de ganado y aislamiento estacional de caseríos por la activación de quebradas</a:t>
            </a:r>
          </a:p>
        </p:txBody>
      </p:sp>
      <p:sp>
        <p:nvSpPr>
          <p:cNvPr id="8" name="EI4 · EI"/>
          <p:cNvSpPr/>
          <p:nvPr/>
        </p:nvSpPr>
        <p:spPr>
          <a:xfrm>
            <a:off x="11284838" y="2144268"/>
            <a:ext cx="3423285" cy="65151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EI4  </a:t>
            </a:r>
            <a:r>
              <a:rPr sz="1225" b="0" i="0">
                <a:solidFill>
                  <a:srgbClr val="1B2733"/>
                </a:solidFill>
                <a:latin typeface="Arial"/>
              </a:rPr>
              <a:t>Mayor aporte de sedimentos al río Piura y pérdida de otros servicios del bosque seco (fuentes de agua, hábitat, carbono)</a:t>
            </a:r>
          </a:p>
        </p:txBody>
      </p:sp>
      <p:sp>
        <p:nvSpPr>
          <p:cNvPr id="9" name="ED1 · ED"/>
          <p:cNvSpPr/>
          <p:nvPr/>
        </p:nvSpPr>
        <p:spPr>
          <a:xfrm>
            <a:off x="411480" y="317982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ED1  </a:t>
            </a:r>
            <a:r>
              <a:rPr sz="1300" b="1" i="0">
                <a:solidFill>
                  <a:srgbClr val="1B2733"/>
                </a:solidFill>
                <a:latin typeface="Arial"/>
              </a:rPr>
              <a:t>Mayor ocurrencia de huaicos y movimientos en masa (caídas de bloques, derrumbes, deslizamientos) en quebradas, taludes y frentes rocosos</a:t>
            </a:r>
          </a:p>
        </p:txBody>
      </p:sp>
      <p:sp>
        <p:nvSpPr>
          <p:cNvPr id="10" name="ED2 · ED"/>
          <p:cNvSpPr/>
          <p:nvPr/>
        </p:nvSpPr>
        <p:spPr>
          <a:xfrm>
            <a:off x="5244084" y="317982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ED2  </a:t>
            </a:r>
            <a:r>
              <a:rPr sz="1300" b="1" i="0">
                <a:solidFill>
                  <a:srgbClr val="1B2733"/>
                </a:solidFill>
                <a:latin typeface="Arial"/>
              </a:rPr>
              <a:t>Erosión hídrica laminar y en cárcavas, con pérdida acelerada de suelo</a:t>
            </a:r>
          </a:p>
        </p:txBody>
      </p:sp>
      <p:sp>
        <p:nvSpPr>
          <p:cNvPr id="11" name="ED3 · ED"/>
          <p:cNvSpPr/>
          <p:nvPr/>
        </p:nvSpPr>
        <p:spPr>
          <a:xfrm>
            <a:off x="10076688" y="3179826"/>
            <a:ext cx="4631436" cy="685799"/>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ED3  </a:t>
            </a:r>
            <a:r>
              <a:rPr sz="1300" b="1" i="0">
                <a:solidFill>
                  <a:srgbClr val="1B2733"/>
                </a:solidFill>
                <a:latin typeface="Arial"/>
              </a:rPr>
              <a:t>Mayor escorrentía torrencial y transporte de sedimentos que activan las quebradas desde las zonas de origen</a:t>
            </a:r>
          </a:p>
        </p:txBody>
      </p:sp>
      <p:sp>
        <p:nvSpPr>
          <p:cNvPr id="12" name="PC · PC"/>
          <p:cNvSpPr/>
          <p:nvPr/>
        </p:nvSpPr>
        <p:spPr>
          <a:xfrm>
            <a:off x="4271573" y="4277106"/>
            <a:ext cx="6576456" cy="1691640"/>
          </a:xfrm>
          <a:prstGeom prst="roundRect">
            <a:avLst>
              <a:gd name="adj" fmla="val 12000"/>
            </a:avLst>
          </a:prstGeom>
          <a:solidFill>
            <a:srgbClr val="1B4F72"/>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FFFFFF"/>
                </a:solidFill>
                <a:latin typeface="Arial"/>
              </a:rPr>
              <a:t>La población de la provincia de Morropón no accede adecuadamente al servicio ecosistémico de regulación de riesgos naturales por la degradación del bosque estacionalmente seco de colina y montaña y del mosaico andino en las zonas de origen de huaicos, movimientos en masa e inundaciones</a:t>
            </a:r>
          </a:p>
        </p:txBody>
      </p:sp>
      <p:sp>
        <p:nvSpPr>
          <p:cNvPr id="13" name="EX1 · EX"/>
          <p:cNvSpPr/>
          <p:nvPr/>
        </p:nvSpPr>
        <p:spPr>
          <a:xfrm>
            <a:off x="411480" y="4277106"/>
            <a:ext cx="3540053" cy="169164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i="0">
                <a:solidFill>
                  <a:srgbClr val="55677A"/>
                </a:solidFill>
                <a:latin typeface="Arial"/>
              </a:rPr>
              <a:t>Factores condicionantes del peligro</a:t>
            </a:r>
          </a:p>
          <a:p>
            <a:pPr algn="l"/>
            <a:r>
              <a:rPr sz="1100" b="0" i="0">
                <a:solidFill>
                  <a:srgbClr val="55677A"/>
                </a:solidFill>
                <a:latin typeface="Arial"/>
              </a:rPr>
              <a:t>Pendiente media 34.7 % (49.6 % en el mosaico andino); susceptibilidad litológica a movimientos en masa alta o muy alta en 42 bloques (Complejo de Olmos, Fm. Río Seco, Fm. La Bocana).</a:t>
            </a:r>
          </a:p>
        </p:txBody>
      </p:sp>
      <p:sp>
        <p:nvSpPr>
          <p:cNvPr id="14" name="EX2 · EX"/>
          <p:cNvSpPr/>
          <p:nvPr/>
        </p:nvSpPr>
        <p:spPr>
          <a:xfrm>
            <a:off x="11168070" y="4277106"/>
            <a:ext cx="3540053" cy="169164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i="0">
                <a:solidFill>
                  <a:srgbClr val="55677A"/>
                </a:solidFill>
                <a:latin typeface="Arial"/>
              </a:rPr>
              <a:t>Factor desencadenante y cambio climático</a:t>
            </a:r>
          </a:p>
          <a:p>
            <a:pPr algn="l"/>
            <a:r>
              <a:rPr sz="1100" b="0" i="0">
                <a:solidFill>
                  <a:srgbClr val="55677A"/>
                </a:solidFill>
                <a:latin typeface="Arial"/>
              </a:rPr>
              <a:t>Lluvias de El Niño 1983 (×3.71), 1998 (×3.75), 2017 (×2.97) y 2023 (×3.36) la media, hasta ×6.1 en M27B1; 15 de 45 años con menos de la mitad de la media; Tmáx +0.19 °C por década.</a:t>
            </a:r>
          </a:p>
        </p:txBody>
      </p:sp>
      <p:sp>
        <p:nvSpPr>
          <p:cNvPr id="15" name="CD1 · CD"/>
          <p:cNvSpPr/>
          <p:nvPr/>
        </p:nvSpPr>
        <p:spPr>
          <a:xfrm>
            <a:off x="411480" y="638022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CD1  </a:t>
            </a:r>
            <a:r>
              <a:rPr sz="1300" b="1" i="0">
                <a:solidFill>
                  <a:srgbClr val="1B2733"/>
                </a:solidFill>
                <a:latin typeface="Arial"/>
              </a:rPr>
              <a:t>Degradación de la cobertura vegetal protectora en las zonas de origen</a:t>
            </a:r>
          </a:p>
        </p:txBody>
      </p:sp>
      <p:sp>
        <p:nvSpPr>
          <p:cNvPr id="16" name="CD2 · CD"/>
          <p:cNvSpPr/>
          <p:nvPr/>
        </p:nvSpPr>
        <p:spPr>
          <a:xfrm>
            <a:off x="5244084" y="638022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CD2  </a:t>
            </a:r>
            <a:r>
              <a:rPr sz="1300" b="1" i="0">
                <a:solidFill>
                  <a:srgbClr val="1B2733"/>
                </a:solidFill>
                <a:latin typeface="Arial"/>
              </a:rPr>
              <a:t>Reducida capacidad de los suelos y laderas para controlar la erosión y la escorrentía</a:t>
            </a:r>
          </a:p>
        </p:txBody>
      </p:sp>
      <p:sp>
        <p:nvSpPr>
          <p:cNvPr id="17" name="CD3 · CD"/>
          <p:cNvSpPr/>
          <p:nvPr/>
        </p:nvSpPr>
        <p:spPr>
          <a:xfrm>
            <a:off x="10076688" y="638022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14" b="1" i="0">
                <a:solidFill>
                  <a:srgbClr val="1B2733"/>
                </a:solidFill>
                <a:latin typeface="Arial"/>
              </a:rPr>
              <a:t>CD3  </a:t>
            </a:r>
            <a:r>
              <a:rPr sz="1300" b="1" i="0">
                <a:solidFill>
                  <a:srgbClr val="1B2733"/>
                </a:solidFill>
                <a:latin typeface="Arial"/>
              </a:rPr>
              <a:t>Inadecuada gobernanza y gestión local del ecosistema y del riesgo</a:t>
            </a:r>
          </a:p>
        </p:txBody>
      </p:sp>
      <p:sp>
        <p:nvSpPr>
          <p:cNvPr id="18" name="CI1.1 · CI"/>
          <p:cNvSpPr/>
          <p:nvPr/>
        </p:nvSpPr>
        <p:spPr>
          <a:xfrm>
            <a:off x="685800" y="7084314"/>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CI1.1  </a:t>
            </a:r>
            <a:r>
              <a:rPr sz="1175" b="0" i="0">
                <a:solidFill>
                  <a:srgbClr val="1B2733"/>
                </a:solidFill>
                <a:latin typeface="Arial"/>
              </a:rPr>
              <a:t>Sobrepastoreo caprino y vacuno sin manejo, que impide la regeneración del bosque seco</a:t>
            </a:r>
          </a:p>
        </p:txBody>
      </p:sp>
      <p:sp>
        <p:nvSpPr>
          <p:cNvPr id="19" name="CI1.2 · CI"/>
          <p:cNvSpPr/>
          <p:nvPr/>
        </p:nvSpPr>
        <p:spPr>
          <a:xfrm>
            <a:off x="685800" y="765276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CI1.2  </a:t>
            </a:r>
            <a:r>
              <a:rPr sz="1175" b="0" i="0">
                <a:solidFill>
                  <a:srgbClr val="1B2733"/>
                </a:solidFill>
                <a:latin typeface="Arial"/>
              </a:rPr>
              <a:t>Tala comercial de palo santo y extracción de madera y leña de especies del bosque seco</a:t>
            </a:r>
          </a:p>
        </p:txBody>
      </p:sp>
      <p:sp>
        <p:nvSpPr>
          <p:cNvPr id="20" name="CI1.3 · CI"/>
          <p:cNvSpPr/>
          <p:nvPr/>
        </p:nvSpPr>
        <p:spPr>
          <a:xfrm>
            <a:off x="685800" y="840028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CI1.3  </a:t>
            </a:r>
            <a:r>
              <a:rPr sz="1175" b="0" i="0">
                <a:solidFill>
                  <a:srgbClr val="1B2733"/>
                </a:solidFill>
                <a:latin typeface="Arial"/>
              </a:rPr>
              <a:t>Expansión agrícola y ocupación urbana de laderas y cauces</a:t>
            </a:r>
          </a:p>
        </p:txBody>
      </p:sp>
      <p:sp>
        <p:nvSpPr>
          <p:cNvPr id="21" name="CI1.4 · CI"/>
          <p:cNvSpPr/>
          <p:nvPr/>
        </p:nvSpPr>
        <p:spPr>
          <a:xfrm>
            <a:off x="685800" y="8968740"/>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CI1.4  </a:t>
            </a:r>
            <a:r>
              <a:rPr sz="1175" b="0" i="0">
                <a:solidFill>
                  <a:srgbClr val="1B2733"/>
                </a:solidFill>
                <a:latin typeface="Arial"/>
              </a:rPr>
              <a:t>Baja capacidad de regeneración natural del bosque seco por aridez extrema, sequías recurrentes y quemas</a:t>
            </a:r>
          </a:p>
        </p:txBody>
      </p:sp>
      <p:sp>
        <p:nvSpPr>
          <p:cNvPr id="22" name="CI2.1 · CI"/>
          <p:cNvSpPr/>
          <p:nvPr/>
        </p:nvSpPr>
        <p:spPr>
          <a:xfrm>
            <a:off x="5518404" y="7084314"/>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CI2.1  </a:t>
            </a:r>
            <a:r>
              <a:rPr sz="1175" b="0" i="0">
                <a:solidFill>
                  <a:srgbClr val="1B2733"/>
                </a:solidFill>
                <a:latin typeface="Arial"/>
              </a:rPr>
              <a:t>Senderos de ganado y pisoteo que compactan el suelo y concentran la escorrentía</a:t>
            </a:r>
          </a:p>
        </p:txBody>
      </p:sp>
      <p:sp>
        <p:nvSpPr>
          <p:cNvPr id="23" name="CI2.2 · CI"/>
          <p:cNvSpPr/>
          <p:nvPr/>
        </p:nvSpPr>
        <p:spPr>
          <a:xfrm>
            <a:off x="5518404" y="765276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CI2.2  </a:t>
            </a:r>
            <a:r>
              <a:rPr sz="1175" b="0" i="0">
                <a:solidFill>
                  <a:srgbClr val="1B2733"/>
                </a:solidFill>
                <a:latin typeface="Arial"/>
              </a:rPr>
              <a:t>Trochas, vías y canteras con cortes de talud sin drenaje ni estabilización</a:t>
            </a:r>
          </a:p>
        </p:txBody>
      </p:sp>
      <p:sp>
        <p:nvSpPr>
          <p:cNvPr id="24" name="CI2.3 · CI"/>
          <p:cNvSpPr/>
          <p:nvPr/>
        </p:nvSpPr>
        <p:spPr>
          <a:xfrm>
            <a:off x="5518404" y="840028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CI2.3  </a:t>
            </a:r>
            <a:r>
              <a:rPr sz="1175" b="0" i="0">
                <a:solidFill>
                  <a:srgbClr val="1B2733"/>
                </a:solidFill>
                <a:latin typeface="Arial"/>
              </a:rPr>
              <a:t>Cárcavas activas y erosión laminar sin prácticas de conservación ni control</a:t>
            </a:r>
          </a:p>
        </p:txBody>
      </p:sp>
      <p:sp>
        <p:nvSpPr>
          <p:cNvPr id="25" name="CI3.1 · CI"/>
          <p:cNvSpPr/>
          <p:nvPr/>
        </p:nvSpPr>
        <p:spPr>
          <a:xfrm>
            <a:off x="10351008" y="7084314"/>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CI3.1  </a:t>
            </a:r>
            <a:r>
              <a:rPr sz="1175" b="0" i="0">
                <a:solidFill>
                  <a:srgbClr val="1B2733"/>
                </a:solidFill>
                <a:latin typeface="Arial"/>
              </a:rPr>
              <a:t>Limitado conocimiento y organización comunal para el manejo del ecosistema y la gestión del riesgo</a:t>
            </a:r>
          </a:p>
        </p:txBody>
      </p:sp>
      <p:sp>
        <p:nvSpPr>
          <p:cNvPr id="26" name="CI3.2 · CI"/>
          <p:cNvSpPr/>
          <p:nvPr/>
        </p:nvSpPr>
        <p:spPr>
          <a:xfrm>
            <a:off x="10351008" y="7652766"/>
            <a:ext cx="4357116" cy="628649"/>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CI3.2  </a:t>
            </a:r>
            <a:r>
              <a:rPr sz="1175" b="0" i="0">
                <a:solidFill>
                  <a:srgbClr val="1B2733"/>
                </a:solidFill>
                <a:latin typeface="Arial"/>
              </a:rPr>
              <a:t>Limitada gobernanza de las entidades públicas y privadas: sin concertación, débil control forestal y sin mecanismos de retribución</a:t>
            </a:r>
          </a:p>
        </p:txBody>
      </p:sp>
      <p:sp>
        <p:nvSpPr>
          <p:cNvPr id="27" name="CI3.3 · CI"/>
          <p:cNvSpPr/>
          <p:nvPr/>
        </p:nvSpPr>
        <p:spPr>
          <a:xfrm>
            <a:off x="10351008" y="8400288"/>
            <a:ext cx="4357116" cy="44958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16" b="1" i="0">
                <a:solidFill>
                  <a:srgbClr val="1B2733"/>
                </a:solidFill>
                <a:latin typeface="Arial"/>
              </a:rPr>
              <a:t>CI3.3  </a:t>
            </a:r>
            <a:r>
              <a:rPr sz="1175" b="0" i="0">
                <a:solidFill>
                  <a:srgbClr val="1B2733"/>
                </a:solidFill>
                <a:latin typeface="Arial"/>
              </a:rPr>
              <a:t>Tierras sin registro, de dominio estatal o comunal, y conflictos de linderos y de uso de pastos</a:t>
            </a:r>
          </a:p>
        </p:txBody>
      </p:sp>
      <p:sp>
        <p:nvSpPr>
          <p:cNvPr id="56" name="Rectangle 55"/>
          <p:cNvSpPr/>
          <p:nvPr/>
        </p:nvSpPr>
        <p:spPr>
          <a:xfrm>
            <a:off x="411480" y="9564624"/>
            <a:ext cx="164592" cy="118872"/>
          </a:xfrm>
          <a:prstGeom prst="rect">
            <a:avLst/>
          </a:prstGeom>
          <a:solidFill>
            <a:srgbClr val="8C5A12"/>
          </a:solidFill>
          <a:ln>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2648" y="9528048"/>
            <a:ext cx="604504" cy="201168"/>
          </a:xfrm>
          <a:prstGeom prst="rect">
            <a:avLst/>
          </a:prstGeom>
          <a:noFill/>
        </p:spPr>
        <p:txBody>
          <a:bodyPr wrap="square" lIns="0" rIns="0" anchor="ctr">
            <a:spAutoFit/>
          </a:bodyPr>
          <a:lstStyle/>
          <a:p>
            <a:pPr algn="l"/>
            <a:r>
              <a:rPr sz="750" b="0" i="0">
                <a:solidFill>
                  <a:srgbClr val="55677A"/>
                </a:solidFill>
                <a:latin typeface="Arial"/>
              </a:rPr>
              <a:t>Efecto final</a:t>
            </a:r>
          </a:p>
        </p:txBody>
      </p:sp>
      <p:sp>
        <p:nvSpPr>
          <p:cNvPr id="58" name="Rectangle 57"/>
          <p:cNvSpPr/>
          <p:nvPr/>
        </p:nvSpPr>
        <p:spPr>
          <a:xfrm>
            <a:off x="1400032" y="9564624"/>
            <a:ext cx="164592" cy="118872"/>
          </a:xfrm>
          <a:prstGeom prst="rect">
            <a:avLst/>
          </a:prstGeom>
          <a:solidFill>
            <a:srgbClr val="FBF3E2"/>
          </a:solidFill>
          <a:ln>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601200" y="9528048"/>
            <a:ext cx="788289" cy="201168"/>
          </a:xfrm>
          <a:prstGeom prst="rect">
            <a:avLst/>
          </a:prstGeom>
          <a:noFill/>
        </p:spPr>
        <p:txBody>
          <a:bodyPr wrap="square" lIns="0" rIns="0" anchor="ctr">
            <a:spAutoFit/>
          </a:bodyPr>
          <a:lstStyle/>
          <a:p>
            <a:pPr algn="l"/>
            <a:r>
              <a:rPr sz="750" b="0" i="0">
                <a:solidFill>
                  <a:srgbClr val="55677A"/>
                </a:solidFill>
                <a:latin typeface="Arial"/>
              </a:rPr>
              <a:t>Efecto indirecto</a:t>
            </a:r>
          </a:p>
        </p:txBody>
      </p:sp>
      <p:sp>
        <p:nvSpPr>
          <p:cNvPr id="60" name="Rectangle 59"/>
          <p:cNvSpPr/>
          <p:nvPr/>
        </p:nvSpPr>
        <p:spPr>
          <a:xfrm>
            <a:off x="2572369" y="9564624"/>
            <a:ext cx="164592" cy="118872"/>
          </a:xfrm>
          <a:prstGeom prst="rect">
            <a:avLst/>
          </a:prstGeom>
          <a:solidFill>
            <a:srgbClr val="F6E7C8"/>
          </a:solidFill>
          <a:ln>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3537" y="9528048"/>
            <a:ext cx="714756" cy="201168"/>
          </a:xfrm>
          <a:prstGeom prst="rect">
            <a:avLst/>
          </a:prstGeom>
          <a:noFill/>
        </p:spPr>
        <p:txBody>
          <a:bodyPr wrap="square" lIns="0" rIns="0" anchor="ctr">
            <a:spAutoFit/>
          </a:bodyPr>
          <a:lstStyle/>
          <a:p>
            <a:pPr algn="l"/>
            <a:r>
              <a:rPr sz="750" b="0" i="0">
                <a:solidFill>
                  <a:srgbClr val="55677A"/>
                </a:solidFill>
                <a:latin typeface="Arial"/>
              </a:rPr>
              <a:t>Efecto directo</a:t>
            </a:r>
          </a:p>
        </p:txBody>
      </p:sp>
      <p:sp>
        <p:nvSpPr>
          <p:cNvPr id="62" name="Rectangle 61"/>
          <p:cNvSpPr/>
          <p:nvPr/>
        </p:nvSpPr>
        <p:spPr>
          <a:xfrm>
            <a:off x="3671173" y="9564624"/>
            <a:ext cx="164592" cy="118872"/>
          </a:xfrm>
          <a:prstGeom prst="rect">
            <a:avLst/>
          </a:prstGeom>
          <a:solidFill>
            <a:srgbClr val="1B4F72"/>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72341" y="9528048"/>
            <a:ext cx="851296" cy="201168"/>
          </a:xfrm>
          <a:prstGeom prst="rect">
            <a:avLst/>
          </a:prstGeom>
          <a:noFill/>
        </p:spPr>
        <p:txBody>
          <a:bodyPr wrap="square" lIns="0" rIns="0" anchor="ctr">
            <a:spAutoFit/>
          </a:bodyPr>
          <a:lstStyle/>
          <a:p>
            <a:pPr algn="l"/>
            <a:r>
              <a:rPr sz="750" b="0" i="0">
                <a:solidFill>
                  <a:srgbClr val="55677A"/>
                </a:solidFill>
                <a:latin typeface="Arial"/>
              </a:rPr>
              <a:t>Problema central</a:t>
            </a:r>
          </a:p>
        </p:txBody>
      </p:sp>
      <p:sp>
        <p:nvSpPr>
          <p:cNvPr id="64" name="Rectangle 63"/>
          <p:cNvSpPr/>
          <p:nvPr/>
        </p:nvSpPr>
        <p:spPr>
          <a:xfrm>
            <a:off x="4906517" y="9564624"/>
            <a:ext cx="164592" cy="118872"/>
          </a:xfrm>
          <a:prstGeom prst="rect">
            <a:avLst/>
          </a:prstGeom>
          <a:solidFill>
            <a:srgbClr val="E5EEF6"/>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07685" y="9528048"/>
            <a:ext cx="720042" cy="201168"/>
          </a:xfrm>
          <a:prstGeom prst="rect">
            <a:avLst/>
          </a:prstGeom>
          <a:noFill/>
        </p:spPr>
        <p:txBody>
          <a:bodyPr wrap="square" lIns="0" rIns="0" anchor="ctr">
            <a:spAutoFit/>
          </a:bodyPr>
          <a:lstStyle/>
          <a:p>
            <a:pPr algn="l"/>
            <a:r>
              <a:rPr sz="750" b="0" i="0">
                <a:solidFill>
                  <a:srgbClr val="55677A"/>
                </a:solidFill>
                <a:latin typeface="Arial"/>
              </a:rPr>
              <a:t>Causa directa</a:t>
            </a:r>
          </a:p>
        </p:txBody>
      </p:sp>
      <p:sp>
        <p:nvSpPr>
          <p:cNvPr id="66" name="Rectangle 65"/>
          <p:cNvSpPr/>
          <p:nvPr/>
        </p:nvSpPr>
        <p:spPr>
          <a:xfrm>
            <a:off x="6010608" y="9564624"/>
            <a:ext cx="164592" cy="118872"/>
          </a:xfrm>
          <a:prstGeom prst="rect">
            <a:avLst/>
          </a:prstGeom>
          <a:solidFill>
            <a:srgbClr val="F3F7FA"/>
          </a:solidFill>
          <a:ln>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11776" y="9528048"/>
            <a:ext cx="793575" cy="201168"/>
          </a:xfrm>
          <a:prstGeom prst="rect">
            <a:avLst/>
          </a:prstGeom>
          <a:noFill/>
        </p:spPr>
        <p:txBody>
          <a:bodyPr wrap="square" lIns="0" rIns="0" anchor="ctr">
            <a:spAutoFit/>
          </a:bodyPr>
          <a:lstStyle/>
          <a:p>
            <a:pPr algn="l"/>
            <a:r>
              <a:rPr sz="750" b="0" i="0">
                <a:solidFill>
                  <a:srgbClr val="55677A"/>
                </a:solidFill>
                <a:latin typeface="Arial"/>
              </a:rPr>
              <a:t>Causa indirecta</a:t>
            </a:r>
          </a:p>
        </p:txBody>
      </p:sp>
      <p:sp>
        <p:nvSpPr>
          <p:cNvPr id="68" name="Rectangle 67"/>
          <p:cNvSpPr/>
          <p:nvPr/>
        </p:nvSpPr>
        <p:spPr>
          <a:xfrm>
            <a:off x="7188231" y="9564624"/>
            <a:ext cx="164592" cy="118872"/>
          </a:xfrm>
          <a:prstGeom prst="rect">
            <a:avLst/>
          </a:prstGeom>
          <a:solidFill>
            <a:srgbClr val="FFFFFF"/>
          </a:solidFill>
          <a:ln>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89399" y="9528048"/>
            <a:ext cx="2295429" cy="201168"/>
          </a:xfrm>
          <a:prstGeom prst="rect">
            <a:avLst/>
          </a:prstGeom>
          <a:noFill/>
        </p:spPr>
        <p:txBody>
          <a:bodyPr wrap="square" lIns="0" rIns="0" anchor="ctr">
            <a:spAutoFit/>
          </a:bodyPr>
          <a:lstStyle/>
          <a:p>
            <a:pPr algn="l"/>
            <a:r>
              <a:rPr sz="750" b="0" i="0">
                <a:solidFill>
                  <a:srgbClr val="55677A"/>
                </a:solidFill>
                <a:latin typeface="Arial"/>
              </a:rPr>
              <a:t>Factor exógeno de peligro (no controlable por el 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5" name="Connector 54"/>
          <p:cNvCxnSpPr>
            <a:stCxn id="4" idx="2"/>
            <a:endCxn id="8" idx="0"/>
          </p:cNvCxnSpPr>
          <p:nvPr/>
        </p:nvCxnSpPr>
        <p:spPr>
          <a:xfrm rot="5400000" flipV="1">
            <a:off x="10086117" y="-484155"/>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a:stCxn id="8" idx="2"/>
            <a:endCxn id="11" idx="0"/>
          </p:cNvCxnSpPr>
          <p:nvPr/>
        </p:nvCxnSpPr>
        <p:spPr>
          <a:xfrm rot="5400000">
            <a:off x="12502419" y="2990564"/>
            <a:ext cx="384047"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a:stCxn id="8" idx="2"/>
            <a:endCxn id="10" idx="0"/>
          </p:cNvCxnSpPr>
          <p:nvPr/>
        </p:nvCxnSpPr>
        <p:spPr>
          <a:xfrm rot="5400000">
            <a:off x="10086117" y="574262"/>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a:stCxn id="4" idx="2"/>
            <a:endCxn id="7" idx="0"/>
          </p:cNvCxnSpPr>
          <p:nvPr/>
        </p:nvCxnSpPr>
        <p:spPr>
          <a:xfrm rot="5400000" flipV="1">
            <a:off x="8273891" y="1328070"/>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a:stCxn id="7" idx="2"/>
            <a:endCxn id="10" idx="0"/>
          </p:cNvCxnSpPr>
          <p:nvPr/>
        </p:nvCxnSpPr>
        <p:spPr>
          <a:xfrm rot="5400000">
            <a:off x="8273891" y="2386488"/>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a:stCxn id="4" idx="2"/>
            <a:endCxn id="6" idx="0"/>
          </p:cNvCxnSpPr>
          <p:nvPr/>
        </p:nvCxnSpPr>
        <p:spPr>
          <a:xfrm rot="5400000">
            <a:off x="6461664" y="1328070"/>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a:stCxn id="6" idx="2"/>
            <a:endCxn id="9" idx="0"/>
          </p:cNvCxnSpPr>
          <p:nvPr/>
        </p:nvCxnSpPr>
        <p:spPr>
          <a:xfrm rot="5400000">
            <a:off x="4045362" y="1782413"/>
            <a:ext cx="384047" cy="3020377"/>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a:stCxn id="4" idx="2"/>
            <a:endCxn id="5" idx="0"/>
          </p:cNvCxnSpPr>
          <p:nvPr/>
        </p:nvCxnSpPr>
        <p:spPr>
          <a:xfrm rot="5400000">
            <a:off x="4649438" y="-484155"/>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a:stCxn id="5" idx="2"/>
            <a:endCxn id="11" idx="0"/>
          </p:cNvCxnSpPr>
          <p:nvPr/>
        </p:nvCxnSpPr>
        <p:spPr>
          <a:xfrm rot="5400000" flipV="1">
            <a:off x="7065740" y="-1842039"/>
            <a:ext cx="384047" cy="10269283"/>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a:stCxn id="5" idx="2"/>
            <a:endCxn id="9" idx="0"/>
          </p:cNvCxnSpPr>
          <p:nvPr/>
        </p:nvCxnSpPr>
        <p:spPr>
          <a:xfrm rot="5400000" flipV="1">
            <a:off x="2233136" y="2990564"/>
            <a:ext cx="384047"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11" idx="2"/>
            <a:endCxn id="12" idx="0"/>
          </p:cNvCxnSpPr>
          <p:nvPr/>
        </p:nvCxnSpPr>
        <p:spPr>
          <a:xfrm rot="5400000">
            <a:off x="9770364" y="1982723"/>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10" idx="2"/>
            <a:endCxn id="12" idx="0"/>
          </p:cNvCxnSpPr>
          <p:nvPr/>
        </p:nvCxnSpPr>
        <p:spPr>
          <a:xfrm rot="5400000">
            <a:off x="7354062" y="4399026"/>
            <a:ext cx="411479"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9" idx="2"/>
            <a:endCxn id="12" idx="0"/>
          </p:cNvCxnSpPr>
          <p:nvPr/>
        </p:nvCxnSpPr>
        <p:spPr>
          <a:xfrm rot="5400000" flipV="1">
            <a:off x="4937760" y="1982723"/>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17" idx="1"/>
            <a:endCxn id="27" idx="1"/>
          </p:cNvCxnSpPr>
          <p:nvPr/>
        </p:nvCxnSpPr>
        <p:spPr>
          <a:xfrm>
            <a:off x="10076688" y="7005065"/>
            <a:ext cx="274320" cy="1852423"/>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17" idx="1"/>
            <a:endCxn id="26" idx="1"/>
          </p:cNvCxnSpPr>
          <p:nvPr/>
        </p:nvCxnSpPr>
        <p:spPr>
          <a:xfrm>
            <a:off x="10076688" y="7005065"/>
            <a:ext cx="274320" cy="1268730"/>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a:stCxn id="17" idx="1"/>
            <a:endCxn id="25" idx="1"/>
          </p:cNvCxnSpPr>
          <p:nvPr/>
        </p:nvCxnSpPr>
        <p:spPr>
          <a:xfrm>
            <a:off x="10076688" y="7005065"/>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16" idx="1"/>
            <a:endCxn id="24" idx="1"/>
          </p:cNvCxnSpPr>
          <p:nvPr/>
        </p:nvCxnSpPr>
        <p:spPr>
          <a:xfrm>
            <a:off x="5244084" y="7005065"/>
            <a:ext cx="274320" cy="1852423"/>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a:stCxn id="16" idx="1"/>
            <a:endCxn id="23" idx="1"/>
          </p:cNvCxnSpPr>
          <p:nvPr/>
        </p:nvCxnSpPr>
        <p:spPr>
          <a:xfrm>
            <a:off x="5244084" y="7005065"/>
            <a:ext cx="274320" cy="1268730"/>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a:stCxn id="16" idx="1"/>
            <a:endCxn id="22" idx="1"/>
          </p:cNvCxnSpPr>
          <p:nvPr/>
        </p:nvCxnSpPr>
        <p:spPr>
          <a:xfrm>
            <a:off x="5244084" y="7005065"/>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15" idx="1"/>
            <a:endCxn id="21" idx="1"/>
          </p:cNvCxnSpPr>
          <p:nvPr/>
        </p:nvCxnSpPr>
        <p:spPr>
          <a:xfrm>
            <a:off x="411480" y="7005065"/>
            <a:ext cx="274320" cy="2436115"/>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stCxn id="15" idx="1"/>
            <a:endCxn id="20" idx="1"/>
          </p:cNvCxnSpPr>
          <p:nvPr/>
        </p:nvCxnSpPr>
        <p:spPr>
          <a:xfrm>
            <a:off x="411480" y="7005065"/>
            <a:ext cx="274320" cy="1852423"/>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15" idx="1"/>
            <a:endCxn id="19" idx="1"/>
          </p:cNvCxnSpPr>
          <p:nvPr/>
        </p:nvCxnSpPr>
        <p:spPr>
          <a:xfrm>
            <a:off x="411480" y="7005065"/>
            <a:ext cx="274320" cy="1268730"/>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15" idx="1"/>
            <a:endCxn id="18" idx="1"/>
          </p:cNvCxnSpPr>
          <p:nvPr/>
        </p:nvCxnSpPr>
        <p:spPr>
          <a:xfrm>
            <a:off x="411480" y="7005065"/>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12" idx="2"/>
            <a:endCxn id="17" idx="0"/>
          </p:cNvCxnSpPr>
          <p:nvPr/>
        </p:nvCxnSpPr>
        <p:spPr>
          <a:xfrm rot="5400000" flipV="1">
            <a:off x="9770364" y="4131563"/>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12" idx="2"/>
            <a:endCxn id="16" idx="0"/>
          </p:cNvCxnSpPr>
          <p:nvPr/>
        </p:nvCxnSpPr>
        <p:spPr>
          <a:xfrm rot="5400000">
            <a:off x="7354062" y="6547865"/>
            <a:ext cx="411479"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12" idx="2"/>
            <a:endCxn id="15" idx="0"/>
          </p:cNvCxnSpPr>
          <p:nvPr/>
        </p:nvCxnSpPr>
        <p:spPr>
          <a:xfrm rot="5400000">
            <a:off x="4937760" y="4131563"/>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14" idx="1"/>
            <a:endCxn id="12" idx="3"/>
          </p:cNvCxnSpPr>
          <p:nvPr/>
        </p:nvCxnSpPr>
        <p:spPr>
          <a:xfrm flipH="1">
            <a:off x="10848029" y="5473445"/>
            <a:ext cx="320041"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a:stCxn id="13" idx="3"/>
            <a:endCxn id="12" idx="1"/>
          </p:cNvCxnSpPr>
          <p:nvPr/>
        </p:nvCxnSpPr>
        <p:spPr>
          <a:xfrm>
            <a:off x="3951533" y="5473445"/>
            <a:ext cx="320040"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 name="Encabezado institucional"/>
          <p:cNvSpPr/>
          <p:nvPr/>
        </p:nvSpPr>
        <p:spPr>
          <a:xfrm>
            <a:off x="0" y="0"/>
            <a:ext cx="15119604" cy="74980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rIns="73152"/>
          <a:lstStyle/>
          <a:p>
            <a:pPr algn="l"/>
            <a:r>
              <a:rPr sz="900" b="1" i="0">
                <a:solidFill>
                  <a:srgbClr val="FFFFFF"/>
                </a:solidFill>
                <a:latin typeface="Arial"/>
              </a:rPr>
              <a:t>AUTORIDAD NACIONAL DE INFRAESTRUCTURA - ANIN  ·  DIME  ·  SUBDIRECCIÓN DE ESTUDIOS DE INVERSIÓN - SESDI</a:t>
            </a:r>
          </a:p>
          <a:p>
            <a:pPr algn="l"/>
            <a:r>
              <a:rPr sz="1620" b="1" i="0">
                <a:solidFill>
                  <a:srgbClr val="FFFFFF"/>
                </a:solidFill>
                <a:latin typeface="Arial"/>
              </a:rPr>
              <a:t>Árbol de problemas – Provincia de Huancabamba</a:t>
            </a:r>
          </a:p>
          <a:p>
            <a:pPr algn="l"/>
            <a:r>
              <a:rPr sz="960" b="0" i="0">
                <a:solidFill>
                  <a:srgbClr val="FFFFFF"/>
                </a:solidFill>
                <a:latin typeface="Arial"/>
              </a:rPr>
              <a:t>Canchaque, Huancabamba, Huarmaca, Lalaquiz y San Miguel de El Faique · 48 bloques · 3,452.21 ha netas (V8) · 58 centros poblados (6,573 hab., Censo 2017)</a:t>
            </a:r>
          </a:p>
        </p:txBody>
      </p:sp>
      <p:sp>
        <p:nvSpPr>
          <p:cNvPr id="3" name="Pie de lámina"/>
          <p:cNvSpPr txBox="1"/>
          <p:nvPr/>
        </p:nvSpPr>
        <p:spPr>
          <a:xfrm>
            <a:off x="411480" y="10308031"/>
            <a:ext cx="14296644" cy="274320"/>
          </a:xfrm>
          <a:prstGeom prst="rect">
            <a:avLst/>
          </a:prstGeom>
          <a:noFill/>
        </p:spPr>
        <p:txBody>
          <a:bodyPr wrap="square" lIns="73152" rIns="73152" anchor="ctr">
            <a:spAutoFit/>
          </a:bodyPr>
          <a:lstStyle/>
          <a:p>
            <a:pPr algn="l"/>
            <a:r>
              <a:rPr sz="750" b="0" i="0">
                <a:solidFill>
                  <a:srgbClr val="55677A"/>
                </a:solidFill>
                <a:latin typeface="Arial"/>
              </a:rPr>
              <a:t>ANIN - DIME - SESDI · Proyecto IN Piura · CUI 2669244 · Versión 1.0, 30-oct-2026  ·  Fuentes: Informe E2 Vol. II Huancabamba (28-oct-2026); Diagnóstico Huancabamba V5; Informe EVAR (19-oct-2026)</a:t>
            </a:r>
          </a:p>
        </p:txBody>
      </p:sp>
      <p:sp>
        <p:nvSpPr>
          <p:cNvPr id="4" name="EF · EF"/>
          <p:cNvSpPr/>
          <p:nvPr/>
        </p:nvSpPr>
        <p:spPr>
          <a:xfrm>
            <a:off x="3127842" y="960120"/>
            <a:ext cx="8863919" cy="1082040"/>
          </a:xfrm>
          <a:prstGeom prst="roundRect">
            <a:avLst>
              <a:gd name="adj" fmla="val 12000"/>
            </a:avLst>
          </a:prstGeom>
          <a:solidFill>
            <a:srgbClr val="8C5A12"/>
          </a:solidFill>
          <a:ln w="12700">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25" b="1" i="0">
                <a:solidFill>
                  <a:srgbClr val="FFFFFF"/>
                </a:solidFill>
                <a:latin typeface="Arial"/>
              </a:rPr>
              <a:t>Incremento de los costos de reconstrucción y disminución de la resiliencia de la población de Huancabamba y sus medios de vida frente a movimientos en masa e inundaciones desencadenados por lluvias extremas, intensificadas por el cambio climático</a:t>
            </a:r>
          </a:p>
        </p:txBody>
      </p:sp>
      <p:sp>
        <p:nvSpPr>
          <p:cNvPr id="5" name="EI1 · EI"/>
          <p:cNvSpPr/>
          <p:nvPr/>
        </p:nvSpPr>
        <p:spPr>
          <a:xfrm>
            <a:off x="411480" y="2426208"/>
            <a:ext cx="3423285" cy="674369"/>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EI1  </a:t>
            </a:r>
            <a:r>
              <a:rPr sz="1275" b="0" i="0">
                <a:solidFill>
                  <a:srgbClr val="1B2733"/>
                </a:solidFill>
                <a:latin typeface="Arial"/>
              </a:rPr>
              <a:t>Interrupción de vías y aislamiento estacional de caseríos, con pérdida de cosechas de café que no llegan al mercado</a:t>
            </a:r>
          </a:p>
        </p:txBody>
      </p:sp>
      <p:sp>
        <p:nvSpPr>
          <p:cNvPr id="6" name="EI2 · EI"/>
          <p:cNvSpPr/>
          <p:nvPr/>
        </p:nvSpPr>
        <p:spPr>
          <a:xfrm>
            <a:off x="4035933" y="2426208"/>
            <a:ext cx="3423285" cy="674369"/>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EI2  </a:t>
            </a:r>
            <a:r>
              <a:rPr sz="1275" b="0" i="0">
                <a:solidFill>
                  <a:srgbClr val="1B2733"/>
                </a:solidFill>
                <a:latin typeface="Arial"/>
              </a:rPr>
              <a:t>Daños a viviendas, parcelas, ganado, captaciones y líneas de conducción de agua</a:t>
            </a:r>
          </a:p>
        </p:txBody>
      </p:sp>
      <p:sp>
        <p:nvSpPr>
          <p:cNvPr id="7" name="EI3 · EI"/>
          <p:cNvSpPr/>
          <p:nvPr/>
        </p:nvSpPr>
        <p:spPr>
          <a:xfrm>
            <a:off x="7660386" y="2426208"/>
            <a:ext cx="3423285" cy="674369"/>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EI3  </a:t>
            </a:r>
            <a:r>
              <a:rPr sz="1275" b="0" i="0">
                <a:solidFill>
                  <a:srgbClr val="1B2733"/>
                </a:solidFill>
                <a:latin typeface="Arial"/>
              </a:rPr>
              <a:t>Pérdida de suelo agrícola y de productividad de la economía cafetalera y de subsistencia</a:t>
            </a:r>
          </a:p>
        </p:txBody>
      </p:sp>
      <p:sp>
        <p:nvSpPr>
          <p:cNvPr id="8" name="EI4 · EI"/>
          <p:cNvSpPr/>
          <p:nvPr/>
        </p:nvSpPr>
        <p:spPr>
          <a:xfrm>
            <a:off x="11284838" y="2426208"/>
            <a:ext cx="3423285" cy="674369"/>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EI4  </a:t>
            </a:r>
            <a:r>
              <a:rPr sz="1275" b="0" i="0">
                <a:solidFill>
                  <a:srgbClr val="1B2733"/>
                </a:solidFill>
                <a:latin typeface="Arial"/>
              </a:rPr>
              <a:t>Aporte de sedimentos que deteriora quebradas y fuentes de agua, y pérdida de otros servicios del ecosistema</a:t>
            </a:r>
          </a:p>
        </p:txBody>
      </p:sp>
      <p:sp>
        <p:nvSpPr>
          <p:cNvPr id="9" name="ED1 · ED"/>
          <p:cNvSpPr/>
          <p:nvPr/>
        </p:nvSpPr>
        <p:spPr>
          <a:xfrm>
            <a:off x="411480" y="3484625"/>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ED1  </a:t>
            </a:r>
            <a:r>
              <a:rPr sz="1350" b="1" i="0">
                <a:solidFill>
                  <a:srgbClr val="1B2733"/>
                </a:solidFill>
                <a:latin typeface="Arial"/>
              </a:rPr>
              <a:t>Mayor ocurrencia de movimientos en masa (deslizamientos, derrumbes, reptación y flujos de detritos) en laderas y quebradas de cabecera</a:t>
            </a:r>
          </a:p>
        </p:txBody>
      </p:sp>
      <p:sp>
        <p:nvSpPr>
          <p:cNvPr id="10" name="ED2 · ED"/>
          <p:cNvSpPr/>
          <p:nvPr/>
        </p:nvSpPr>
        <p:spPr>
          <a:xfrm>
            <a:off x="5244084" y="3484625"/>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ED2  </a:t>
            </a:r>
            <a:r>
              <a:rPr sz="1350" b="1" i="0">
                <a:solidFill>
                  <a:srgbClr val="1B2733"/>
                </a:solidFill>
                <a:latin typeface="Arial"/>
              </a:rPr>
              <a:t>Erosión hídrica acelerada y pérdida de suelo en laderas (surcos y cárcavas)</a:t>
            </a:r>
          </a:p>
        </p:txBody>
      </p:sp>
      <p:sp>
        <p:nvSpPr>
          <p:cNvPr id="11" name="ED3 · ED"/>
          <p:cNvSpPr/>
          <p:nvPr/>
        </p:nvSpPr>
        <p:spPr>
          <a:xfrm>
            <a:off x="10076688" y="3484625"/>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ED3  </a:t>
            </a:r>
            <a:r>
              <a:rPr sz="1350" b="1" i="0">
                <a:solidFill>
                  <a:srgbClr val="1B2733"/>
                </a:solidFill>
                <a:latin typeface="Arial"/>
              </a:rPr>
              <a:t>Mayor escorrentía torrencial y transporte de sedimentos desde las zonas de origen hacia las quebradas</a:t>
            </a:r>
          </a:p>
        </p:txBody>
      </p:sp>
      <p:sp>
        <p:nvSpPr>
          <p:cNvPr id="12" name="PC · PC"/>
          <p:cNvSpPr/>
          <p:nvPr/>
        </p:nvSpPr>
        <p:spPr>
          <a:xfrm>
            <a:off x="4271573" y="4604765"/>
            <a:ext cx="6576456" cy="1737360"/>
          </a:xfrm>
          <a:prstGeom prst="roundRect">
            <a:avLst>
              <a:gd name="adj" fmla="val 12000"/>
            </a:avLst>
          </a:prstGeom>
          <a:solidFill>
            <a:srgbClr val="1B4F72"/>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50" b="1" i="0">
                <a:solidFill>
                  <a:srgbClr val="FFFFFF"/>
                </a:solidFill>
                <a:latin typeface="Arial"/>
              </a:rPr>
              <a:t>La población de la provincia de Huancabamba no accede adecuadamente al servicio ecosistémico de regulación de riesgos naturales por la degradación del bosque estacionalmente seco, el matorral andino y los mosaicos agroforestales de ladera en las zonas de origen de movimientos en masa e inundaciones</a:t>
            </a:r>
          </a:p>
        </p:txBody>
      </p:sp>
      <p:sp>
        <p:nvSpPr>
          <p:cNvPr id="13" name="EX1 · EX"/>
          <p:cNvSpPr/>
          <p:nvPr/>
        </p:nvSpPr>
        <p:spPr>
          <a:xfrm>
            <a:off x="411480" y="4604765"/>
            <a:ext cx="3540053" cy="173736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50" b="1" i="0">
                <a:solidFill>
                  <a:srgbClr val="55677A"/>
                </a:solidFill>
                <a:latin typeface="Arial"/>
              </a:rPr>
              <a:t>Factores condicionantes del peligro</a:t>
            </a:r>
          </a:p>
          <a:p>
            <a:pPr algn="l"/>
            <a:r>
              <a:rPr sz="1150" b="0" i="0">
                <a:solidFill>
                  <a:srgbClr val="55677A"/>
                </a:solidFill>
                <a:latin typeface="Arial"/>
              </a:rPr>
              <a:t>Pendiente media 49 % (424.62 ha sobre 75 %; Canchaque 59.4 %); susceptibilidad litológica a movimientos en masa muy alta en 18 bloques y alta en 18 (Complejo de Olmos).</a:t>
            </a:r>
          </a:p>
        </p:txBody>
      </p:sp>
      <p:sp>
        <p:nvSpPr>
          <p:cNvPr id="14" name="EX2 · EX"/>
          <p:cNvSpPr/>
          <p:nvPr/>
        </p:nvSpPr>
        <p:spPr>
          <a:xfrm>
            <a:off x="11168070" y="4604765"/>
            <a:ext cx="3540053" cy="173736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50" b="1" i="0">
                <a:solidFill>
                  <a:srgbClr val="55677A"/>
                </a:solidFill>
                <a:latin typeface="Arial"/>
              </a:rPr>
              <a:t>Factor desencadenante y cambio climático</a:t>
            </a:r>
          </a:p>
          <a:p>
            <a:pPr algn="l"/>
            <a:r>
              <a:rPr sz="1150" b="0" i="0">
                <a:solidFill>
                  <a:srgbClr val="55677A"/>
                </a:solidFill>
                <a:latin typeface="Arial"/>
              </a:rPr>
              <a:t>Lluvias de El Niño 1983, 1998, 2017 y 2023 entre 2.0 y 2.7 veces la media provincial (3.2–3.3 veces en el bosque seco); tendencia +32.6 mm y +0.15 °C por década.</a:t>
            </a:r>
          </a:p>
        </p:txBody>
      </p:sp>
      <p:sp>
        <p:nvSpPr>
          <p:cNvPr id="15" name="CD1 · CD"/>
          <p:cNvSpPr/>
          <p:nvPr/>
        </p:nvSpPr>
        <p:spPr>
          <a:xfrm>
            <a:off x="411480" y="6753605"/>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CD1  </a:t>
            </a:r>
            <a:r>
              <a:rPr sz="1350" b="1" i="0">
                <a:solidFill>
                  <a:srgbClr val="1B2733"/>
                </a:solidFill>
                <a:latin typeface="Arial"/>
              </a:rPr>
              <a:t>Degradación de la cobertura vegetal protectora en las zonas de origen</a:t>
            </a:r>
          </a:p>
        </p:txBody>
      </p:sp>
      <p:sp>
        <p:nvSpPr>
          <p:cNvPr id="16" name="CD2 · CD"/>
          <p:cNvSpPr/>
          <p:nvPr/>
        </p:nvSpPr>
        <p:spPr>
          <a:xfrm>
            <a:off x="5244084" y="6753605"/>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CD2  </a:t>
            </a:r>
            <a:r>
              <a:rPr sz="1350" b="1" i="0">
                <a:solidFill>
                  <a:srgbClr val="1B2733"/>
                </a:solidFill>
                <a:latin typeface="Arial"/>
              </a:rPr>
              <a:t>Reducida capacidad de los suelos y laderas para controlar la erosión y la escorrentía</a:t>
            </a:r>
          </a:p>
        </p:txBody>
      </p:sp>
      <p:sp>
        <p:nvSpPr>
          <p:cNvPr id="17" name="CD3 · CD"/>
          <p:cNvSpPr/>
          <p:nvPr/>
        </p:nvSpPr>
        <p:spPr>
          <a:xfrm>
            <a:off x="10076688" y="6753605"/>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CD3  </a:t>
            </a:r>
            <a:r>
              <a:rPr sz="1350" b="1" i="0">
                <a:solidFill>
                  <a:srgbClr val="1B2733"/>
                </a:solidFill>
                <a:latin typeface="Arial"/>
              </a:rPr>
              <a:t>Inadecuada gobernanza y gestión local del ecosistema y del riesgo</a:t>
            </a:r>
          </a:p>
        </p:txBody>
      </p:sp>
      <p:sp>
        <p:nvSpPr>
          <p:cNvPr id="18" name="CI1.1 · CI"/>
          <p:cNvSpPr/>
          <p:nvPr/>
        </p:nvSpPr>
        <p:spPr>
          <a:xfrm>
            <a:off x="685800" y="7457693"/>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CI1.1  </a:t>
            </a:r>
            <a:r>
              <a:rPr sz="1225" b="0" i="0">
                <a:solidFill>
                  <a:srgbClr val="1B2733"/>
                </a:solidFill>
                <a:latin typeface="Arial"/>
              </a:rPr>
              <a:t>Sobrepastoreo caprino y vacuno sin manejo, que elimina la regeneración del bosque seco y del matorral</a:t>
            </a:r>
          </a:p>
        </p:txBody>
      </p:sp>
      <p:sp>
        <p:nvSpPr>
          <p:cNvPr id="19" name="CI1.2 · CI"/>
          <p:cNvSpPr/>
          <p:nvPr/>
        </p:nvSpPr>
        <p:spPr>
          <a:xfrm>
            <a:off x="685800" y="8041385"/>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CI1.2  </a:t>
            </a:r>
            <a:r>
              <a:rPr sz="1225" b="0" i="0">
                <a:solidFill>
                  <a:srgbClr val="1B2733"/>
                </a:solidFill>
                <a:latin typeface="Arial"/>
              </a:rPr>
              <a:t>Cambio de uso hacia agricultura de ladera (café, maíz, pastos)</a:t>
            </a:r>
          </a:p>
        </p:txBody>
      </p:sp>
      <p:sp>
        <p:nvSpPr>
          <p:cNvPr id="20" name="CI1.3 · CI"/>
          <p:cNvSpPr/>
          <p:nvPr/>
        </p:nvSpPr>
        <p:spPr>
          <a:xfrm>
            <a:off x="685800" y="862507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CI1.3  </a:t>
            </a:r>
            <a:r>
              <a:rPr sz="1225" b="0" i="0">
                <a:solidFill>
                  <a:srgbClr val="1B2733"/>
                </a:solidFill>
                <a:latin typeface="Arial"/>
              </a:rPr>
              <a:t>Extracción de leña y madera y quemas para renovar pastos</a:t>
            </a:r>
          </a:p>
        </p:txBody>
      </p:sp>
      <p:sp>
        <p:nvSpPr>
          <p:cNvPr id="21" name="CI1.4 · CI"/>
          <p:cNvSpPr/>
          <p:nvPr/>
        </p:nvSpPr>
        <p:spPr>
          <a:xfrm>
            <a:off x="685800" y="9208770"/>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CI1.4  </a:t>
            </a:r>
            <a:r>
              <a:rPr sz="1225" b="0" i="0">
                <a:solidFill>
                  <a:srgbClr val="1B2733"/>
                </a:solidFill>
                <a:latin typeface="Arial"/>
              </a:rPr>
              <a:t>Baja regeneración de especies nativas por aridez y avance de especies exóticas</a:t>
            </a:r>
          </a:p>
        </p:txBody>
      </p:sp>
      <p:sp>
        <p:nvSpPr>
          <p:cNvPr id="22" name="CI2.1 · CI"/>
          <p:cNvSpPr/>
          <p:nvPr/>
        </p:nvSpPr>
        <p:spPr>
          <a:xfrm>
            <a:off x="5518404" y="7457693"/>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CI2.1  </a:t>
            </a:r>
            <a:r>
              <a:rPr sz="1225" b="0" i="0">
                <a:solidFill>
                  <a:srgbClr val="1B2733"/>
                </a:solidFill>
                <a:latin typeface="Arial"/>
              </a:rPr>
              <a:t>Trochas, vías y cortes de talud sin drenaje ni estabilización</a:t>
            </a:r>
          </a:p>
        </p:txBody>
      </p:sp>
      <p:sp>
        <p:nvSpPr>
          <p:cNvPr id="23" name="CI2.2 · CI"/>
          <p:cNvSpPr/>
          <p:nvPr/>
        </p:nvSpPr>
        <p:spPr>
          <a:xfrm>
            <a:off x="5518404" y="8041385"/>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CI2.2  </a:t>
            </a:r>
            <a:r>
              <a:rPr sz="1225" b="0" i="0">
                <a:solidFill>
                  <a:srgbClr val="1B2733"/>
                </a:solidFill>
                <a:latin typeface="Arial"/>
              </a:rPr>
              <a:t>Laderas cultivadas sin prácticas de conservación y cárcavas sin control</a:t>
            </a:r>
          </a:p>
        </p:txBody>
      </p:sp>
      <p:sp>
        <p:nvSpPr>
          <p:cNvPr id="24" name="CI2.3 · CI"/>
          <p:cNvSpPr/>
          <p:nvPr/>
        </p:nvSpPr>
        <p:spPr>
          <a:xfrm>
            <a:off x="5518404" y="862507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CI2.3  </a:t>
            </a:r>
            <a:r>
              <a:rPr sz="1225" b="0" i="0">
                <a:solidFill>
                  <a:srgbClr val="1B2733"/>
                </a:solidFill>
                <a:latin typeface="Arial"/>
              </a:rPr>
              <a:t>Pisoteo y compactación de suelos someros por el ganado, con baja infiltración</a:t>
            </a:r>
          </a:p>
        </p:txBody>
      </p:sp>
      <p:sp>
        <p:nvSpPr>
          <p:cNvPr id="25" name="CI3.1 · CI"/>
          <p:cNvSpPr/>
          <p:nvPr/>
        </p:nvSpPr>
        <p:spPr>
          <a:xfrm>
            <a:off x="10351008" y="7457693"/>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CI3.1  </a:t>
            </a:r>
            <a:r>
              <a:rPr sz="1225" b="0" i="0">
                <a:solidFill>
                  <a:srgbClr val="1B2733"/>
                </a:solidFill>
                <a:latin typeface="Arial"/>
              </a:rPr>
              <a:t>Limitado conocimiento y organización comunal para el manejo del ecosistema y la gestión del riesgo</a:t>
            </a:r>
          </a:p>
        </p:txBody>
      </p:sp>
      <p:sp>
        <p:nvSpPr>
          <p:cNvPr id="26" name="CI3.2 · CI"/>
          <p:cNvSpPr/>
          <p:nvPr/>
        </p:nvSpPr>
        <p:spPr>
          <a:xfrm>
            <a:off x="10351008" y="8041385"/>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CI3.2  </a:t>
            </a:r>
            <a:r>
              <a:rPr sz="1225" b="0" i="0">
                <a:solidFill>
                  <a:srgbClr val="1B2733"/>
                </a:solidFill>
                <a:latin typeface="Arial"/>
              </a:rPr>
              <a:t>Limitada gobernanza y articulación de las entidades públicas y privadas, con desconfianza por obras inconclusas</a:t>
            </a:r>
          </a:p>
        </p:txBody>
      </p:sp>
      <p:sp>
        <p:nvSpPr>
          <p:cNvPr id="27" name="CI3.3 · CI"/>
          <p:cNvSpPr/>
          <p:nvPr/>
        </p:nvSpPr>
        <p:spPr>
          <a:xfrm>
            <a:off x="10351008" y="862507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CI3.3  </a:t>
            </a:r>
            <a:r>
              <a:rPr sz="1225" b="0" i="0">
                <a:solidFill>
                  <a:srgbClr val="1B2733"/>
                </a:solidFill>
                <a:latin typeface="Arial"/>
              </a:rPr>
              <a:t>Alta informalidad en la tenencia de la tierra y presión de derechos mineros</a:t>
            </a:r>
          </a:p>
        </p:txBody>
      </p:sp>
      <p:sp>
        <p:nvSpPr>
          <p:cNvPr id="56" name="Rectangle 55"/>
          <p:cNvSpPr/>
          <p:nvPr/>
        </p:nvSpPr>
        <p:spPr>
          <a:xfrm>
            <a:off x="411480" y="9819893"/>
            <a:ext cx="164592" cy="118872"/>
          </a:xfrm>
          <a:prstGeom prst="rect">
            <a:avLst/>
          </a:prstGeom>
          <a:solidFill>
            <a:srgbClr val="8C5A12"/>
          </a:solidFill>
          <a:ln>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2648" y="9783317"/>
            <a:ext cx="604504" cy="201168"/>
          </a:xfrm>
          <a:prstGeom prst="rect">
            <a:avLst/>
          </a:prstGeom>
          <a:noFill/>
        </p:spPr>
        <p:txBody>
          <a:bodyPr wrap="square" lIns="0" rIns="0" anchor="ctr">
            <a:spAutoFit/>
          </a:bodyPr>
          <a:lstStyle/>
          <a:p>
            <a:pPr algn="l"/>
            <a:r>
              <a:rPr sz="750" b="0" i="0">
                <a:solidFill>
                  <a:srgbClr val="55677A"/>
                </a:solidFill>
                <a:latin typeface="Arial"/>
              </a:rPr>
              <a:t>Efecto final</a:t>
            </a:r>
          </a:p>
        </p:txBody>
      </p:sp>
      <p:sp>
        <p:nvSpPr>
          <p:cNvPr id="58" name="Rectangle 57"/>
          <p:cNvSpPr/>
          <p:nvPr/>
        </p:nvSpPr>
        <p:spPr>
          <a:xfrm>
            <a:off x="1400032" y="9819893"/>
            <a:ext cx="164592" cy="118872"/>
          </a:xfrm>
          <a:prstGeom prst="rect">
            <a:avLst/>
          </a:prstGeom>
          <a:solidFill>
            <a:srgbClr val="FBF3E2"/>
          </a:solidFill>
          <a:ln>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601200" y="9783317"/>
            <a:ext cx="788289" cy="201168"/>
          </a:xfrm>
          <a:prstGeom prst="rect">
            <a:avLst/>
          </a:prstGeom>
          <a:noFill/>
        </p:spPr>
        <p:txBody>
          <a:bodyPr wrap="square" lIns="0" rIns="0" anchor="ctr">
            <a:spAutoFit/>
          </a:bodyPr>
          <a:lstStyle/>
          <a:p>
            <a:pPr algn="l"/>
            <a:r>
              <a:rPr sz="750" b="0" i="0">
                <a:solidFill>
                  <a:srgbClr val="55677A"/>
                </a:solidFill>
                <a:latin typeface="Arial"/>
              </a:rPr>
              <a:t>Efecto indirecto</a:t>
            </a:r>
          </a:p>
        </p:txBody>
      </p:sp>
      <p:sp>
        <p:nvSpPr>
          <p:cNvPr id="60" name="Rectangle 59"/>
          <p:cNvSpPr/>
          <p:nvPr/>
        </p:nvSpPr>
        <p:spPr>
          <a:xfrm>
            <a:off x="2572369" y="9819893"/>
            <a:ext cx="164592" cy="118872"/>
          </a:xfrm>
          <a:prstGeom prst="rect">
            <a:avLst/>
          </a:prstGeom>
          <a:solidFill>
            <a:srgbClr val="F6E7C8"/>
          </a:solidFill>
          <a:ln>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3537" y="9783317"/>
            <a:ext cx="714756" cy="201168"/>
          </a:xfrm>
          <a:prstGeom prst="rect">
            <a:avLst/>
          </a:prstGeom>
          <a:noFill/>
        </p:spPr>
        <p:txBody>
          <a:bodyPr wrap="square" lIns="0" rIns="0" anchor="ctr">
            <a:spAutoFit/>
          </a:bodyPr>
          <a:lstStyle/>
          <a:p>
            <a:pPr algn="l"/>
            <a:r>
              <a:rPr sz="750" b="0" i="0">
                <a:solidFill>
                  <a:srgbClr val="55677A"/>
                </a:solidFill>
                <a:latin typeface="Arial"/>
              </a:rPr>
              <a:t>Efecto directo</a:t>
            </a:r>
          </a:p>
        </p:txBody>
      </p:sp>
      <p:sp>
        <p:nvSpPr>
          <p:cNvPr id="62" name="Rectangle 61"/>
          <p:cNvSpPr/>
          <p:nvPr/>
        </p:nvSpPr>
        <p:spPr>
          <a:xfrm>
            <a:off x="3671173" y="9819893"/>
            <a:ext cx="164592" cy="118872"/>
          </a:xfrm>
          <a:prstGeom prst="rect">
            <a:avLst/>
          </a:prstGeom>
          <a:solidFill>
            <a:srgbClr val="1B4F72"/>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72341" y="9783317"/>
            <a:ext cx="851296" cy="201168"/>
          </a:xfrm>
          <a:prstGeom prst="rect">
            <a:avLst/>
          </a:prstGeom>
          <a:noFill/>
        </p:spPr>
        <p:txBody>
          <a:bodyPr wrap="square" lIns="0" rIns="0" anchor="ctr">
            <a:spAutoFit/>
          </a:bodyPr>
          <a:lstStyle/>
          <a:p>
            <a:pPr algn="l"/>
            <a:r>
              <a:rPr sz="750" b="0" i="0">
                <a:solidFill>
                  <a:srgbClr val="55677A"/>
                </a:solidFill>
                <a:latin typeface="Arial"/>
              </a:rPr>
              <a:t>Problema central</a:t>
            </a:r>
          </a:p>
        </p:txBody>
      </p:sp>
      <p:sp>
        <p:nvSpPr>
          <p:cNvPr id="64" name="Rectangle 63"/>
          <p:cNvSpPr/>
          <p:nvPr/>
        </p:nvSpPr>
        <p:spPr>
          <a:xfrm>
            <a:off x="4906517" y="9819893"/>
            <a:ext cx="164592" cy="118872"/>
          </a:xfrm>
          <a:prstGeom prst="rect">
            <a:avLst/>
          </a:prstGeom>
          <a:solidFill>
            <a:srgbClr val="E5EEF6"/>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07685" y="9783317"/>
            <a:ext cx="720042" cy="201168"/>
          </a:xfrm>
          <a:prstGeom prst="rect">
            <a:avLst/>
          </a:prstGeom>
          <a:noFill/>
        </p:spPr>
        <p:txBody>
          <a:bodyPr wrap="square" lIns="0" rIns="0" anchor="ctr">
            <a:spAutoFit/>
          </a:bodyPr>
          <a:lstStyle/>
          <a:p>
            <a:pPr algn="l"/>
            <a:r>
              <a:rPr sz="750" b="0" i="0">
                <a:solidFill>
                  <a:srgbClr val="55677A"/>
                </a:solidFill>
                <a:latin typeface="Arial"/>
              </a:rPr>
              <a:t>Causa directa</a:t>
            </a:r>
          </a:p>
        </p:txBody>
      </p:sp>
      <p:sp>
        <p:nvSpPr>
          <p:cNvPr id="66" name="Rectangle 65"/>
          <p:cNvSpPr/>
          <p:nvPr/>
        </p:nvSpPr>
        <p:spPr>
          <a:xfrm>
            <a:off x="6010608" y="9819893"/>
            <a:ext cx="164592" cy="118872"/>
          </a:xfrm>
          <a:prstGeom prst="rect">
            <a:avLst/>
          </a:prstGeom>
          <a:solidFill>
            <a:srgbClr val="F3F7FA"/>
          </a:solidFill>
          <a:ln>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11776" y="9783317"/>
            <a:ext cx="793575" cy="201168"/>
          </a:xfrm>
          <a:prstGeom prst="rect">
            <a:avLst/>
          </a:prstGeom>
          <a:noFill/>
        </p:spPr>
        <p:txBody>
          <a:bodyPr wrap="square" lIns="0" rIns="0" anchor="ctr">
            <a:spAutoFit/>
          </a:bodyPr>
          <a:lstStyle/>
          <a:p>
            <a:pPr algn="l"/>
            <a:r>
              <a:rPr sz="750" b="0" i="0">
                <a:solidFill>
                  <a:srgbClr val="55677A"/>
                </a:solidFill>
                <a:latin typeface="Arial"/>
              </a:rPr>
              <a:t>Causa indirecta</a:t>
            </a:r>
          </a:p>
        </p:txBody>
      </p:sp>
      <p:sp>
        <p:nvSpPr>
          <p:cNvPr id="68" name="Rectangle 67"/>
          <p:cNvSpPr/>
          <p:nvPr/>
        </p:nvSpPr>
        <p:spPr>
          <a:xfrm>
            <a:off x="7188231" y="9819893"/>
            <a:ext cx="164592" cy="118872"/>
          </a:xfrm>
          <a:prstGeom prst="rect">
            <a:avLst/>
          </a:prstGeom>
          <a:solidFill>
            <a:srgbClr val="FFFFFF"/>
          </a:solidFill>
          <a:ln>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89399" y="9783317"/>
            <a:ext cx="2295429" cy="201168"/>
          </a:xfrm>
          <a:prstGeom prst="rect">
            <a:avLst/>
          </a:prstGeom>
          <a:noFill/>
        </p:spPr>
        <p:txBody>
          <a:bodyPr wrap="square" lIns="0" rIns="0" anchor="ctr">
            <a:spAutoFit/>
          </a:bodyPr>
          <a:lstStyle/>
          <a:p>
            <a:pPr algn="l"/>
            <a:r>
              <a:rPr sz="750" b="0" i="0">
                <a:solidFill>
                  <a:srgbClr val="55677A"/>
                </a:solidFill>
                <a:latin typeface="Arial"/>
              </a:rPr>
              <a:t>Factor exógeno de peligro (no controlable por el 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4" name="Connector 53"/>
          <p:cNvCxnSpPr>
            <a:stCxn id="4" idx="2"/>
            <a:endCxn id="8" idx="0"/>
          </p:cNvCxnSpPr>
          <p:nvPr/>
        </p:nvCxnSpPr>
        <p:spPr>
          <a:xfrm rot="5400000" flipV="1">
            <a:off x="10086117" y="-731805"/>
            <a:ext cx="384048"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a:stCxn id="8" idx="2"/>
            <a:endCxn id="11" idx="0"/>
          </p:cNvCxnSpPr>
          <p:nvPr/>
        </p:nvCxnSpPr>
        <p:spPr>
          <a:xfrm rot="5400000">
            <a:off x="12502419" y="2937224"/>
            <a:ext cx="384047"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a:stCxn id="8" idx="2"/>
            <a:endCxn id="10" idx="0"/>
          </p:cNvCxnSpPr>
          <p:nvPr/>
        </p:nvCxnSpPr>
        <p:spPr>
          <a:xfrm rot="5400000">
            <a:off x="10086117" y="520922"/>
            <a:ext cx="384047"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a:stCxn id="4" idx="2"/>
            <a:endCxn id="7" idx="0"/>
          </p:cNvCxnSpPr>
          <p:nvPr/>
        </p:nvCxnSpPr>
        <p:spPr>
          <a:xfrm rot="5400000" flipV="1">
            <a:off x="8273891" y="1080420"/>
            <a:ext cx="384048"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a:stCxn id="7" idx="2"/>
            <a:endCxn id="11" idx="0"/>
          </p:cNvCxnSpPr>
          <p:nvPr/>
        </p:nvCxnSpPr>
        <p:spPr>
          <a:xfrm rot="5400000" flipV="1">
            <a:off x="10690193" y="1729073"/>
            <a:ext cx="384047" cy="3020377"/>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a:stCxn id="4" idx="2"/>
            <a:endCxn id="6" idx="0"/>
          </p:cNvCxnSpPr>
          <p:nvPr/>
        </p:nvCxnSpPr>
        <p:spPr>
          <a:xfrm rot="5400000">
            <a:off x="6461664" y="1080420"/>
            <a:ext cx="384048"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a:stCxn id="6" idx="2"/>
            <a:endCxn id="10" idx="0"/>
          </p:cNvCxnSpPr>
          <p:nvPr/>
        </p:nvCxnSpPr>
        <p:spPr>
          <a:xfrm rot="5400000" flipV="1">
            <a:off x="6461664" y="2333148"/>
            <a:ext cx="384047" cy="1812226"/>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a:stCxn id="4" idx="2"/>
            <a:endCxn id="5" idx="0"/>
          </p:cNvCxnSpPr>
          <p:nvPr/>
        </p:nvCxnSpPr>
        <p:spPr>
          <a:xfrm rot="5400000">
            <a:off x="4649438" y="-731805"/>
            <a:ext cx="384048" cy="5436679"/>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a:stCxn id="5" idx="2"/>
            <a:endCxn id="9" idx="0"/>
          </p:cNvCxnSpPr>
          <p:nvPr/>
        </p:nvCxnSpPr>
        <p:spPr>
          <a:xfrm rot="5400000" flipV="1">
            <a:off x="2233136" y="2937224"/>
            <a:ext cx="384047" cy="604075"/>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11" idx="2"/>
            <a:endCxn id="12" idx="0"/>
          </p:cNvCxnSpPr>
          <p:nvPr/>
        </p:nvCxnSpPr>
        <p:spPr>
          <a:xfrm rot="5400000">
            <a:off x="9770364" y="192938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10" idx="2"/>
            <a:endCxn id="12" idx="0"/>
          </p:cNvCxnSpPr>
          <p:nvPr/>
        </p:nvCxnSpPr>
        <p:spPr>
          <a:xfrm rot="5400000">
            <a:off x="7354062" y="4345686"/>
            <a:ext cx="411480"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9" idx="2"/>
            <a:endCxn id="12" idx="0"/>
          </p:cNvCxnSpPr>
          <p:nvPr/>
        </p:nvCxnSpPr>
        <p:spPr>
          <a:xfrm rot="5400000" flipV="1">
            <a:off x="4937760" y="1929384"/>
            <a:ext cx="411480"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17" idx="1"/>
            <a:endCxn id="27" idx="1"/>
          </p:cNvCxnSpPr>
          <p:nvPr/>
        </p:nvCxnSpPr>
        <p:spPr>
          <a:xfrm>
            <a:off x="10076688" y="6951726"/>
            <a:ext cx="274320" cy="203911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17" idx="1"/>
            <a:endCxn id="26" idx="1"/>
          </p:cNvCxnSpPr>
          <p:nvPr/>
        </p:nvCxnSpPr>
        <p:spPr>
          <a:xfrm>
            <a:off x="10076688" y="6951726"/>
            <a:ext cx="274320" cy="1362075"/>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a:stCxn id="17" idx="1"/>
            <a:endCxn id="25" idx="1"/>
          </p:cNvCxnSpPr>
          <p:nvPr/>
        </p:nvCxnSpPr>
        <p:spPr>
          <a:xfrm>
            <a:off x="10076688" y="6951726"/>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16" idx="1"/>
            <a:endCxn id="24" idx="1"/>
          </p:cNvCxnSpPr>
          <p:nvPr/>
        </p:nvCxnSpPr>
        <p:spPr>
          <a:xfrm>
            <a:off x="5244084" y="6951726"/>
            <a:ext cx="274320" cy="203911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a:stCxn id="16" idx="1"/>
            <a:endCxn id="23" idx="1"/>
          </p:cNvCxnSpPr>
          <p:nvPr/>
        </p:nvCxnSpPr>
        <p:spPr>
          <a:xfrm>
            <a:off x="5244084" y="6951726"/>
            <a:ext cx="274320" cy="1362075"/>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a:stCxn id="16" idx="1"/>
            <a:endCxn id="22" idx="1"/>
          </p:cNvCxnSpPr>
          <p:nvPr/>
        </p:nvCxnSpPr>
        <p:spPr>
          <a:xfrm>
            <a:off x="5244084" y="6951726"/>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15" idx="1"/>
            <a:endCxn id="21" idx="1"/>
          </p:cNvCxnSpPr>
          <p:nvPr/>
        </p:nvCxnSpPr>
        <p:spPr>
          <a:xfrm>
            <a:off x="411480" y="6951726"/>
            <a:ext cx="274320" cy="2622804"/>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stCxn id="15" idx="1"/>
            <a:endCxn id="20" idx="1"/>
          </p:cNvCxnSpPr>
          <p:nvPr/>
        </p:nvCxnSpPr>
        <p:spPr>
          <a:xfrm>
            <a:off x="411480" y="6951726"/>
            <a:ext cx="274320" cy="2039112"/>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15" idx="1"/>
            <a:endCxn id="19" idx="1"/>
          </p:cNvCxnSpPr>
          <p:nvPr/>
        </p:nvCxnSpPr>
        <p:spPr>
          <a:xfrm>
            <a:off x="411480" y="6951726"/>
            <a:ext cx="274320" cy="1362075"/>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15" idx="1"/>
            <a:endCxn id="18" idx="1"/>
          </p:cNvCxnSpPr>
          <p:nvPr/>
        </p:nvCxnSpPr>
        <p:spPr>
          <a:xfrm>
            <a:off x="411480" y="6951726"/>
            <a:ext cx="274320" cy="685038"/>
          </a:xfrm>
          <a:prstGeom prst="bentConnector3">
            <a:avLst/>
          </a:prstGeom>
          <a:ln w="15875">
            <a:solidFill>
              <a:srgbClr val="4A586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12" idx="2"/>
            <a:endCxn id="17" idx="0"/>
          </p:cNvCxnSpPr>
          <p:nvPr/>
        </p:nvCxnSpPr>
        <p:spPr>
          <a:xfrm rot="5400000" flipV="1">
            <a:off x="9770364" y="4078224"/>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12" idx="2"/>
            <a:endCxn id="16" idx="0"/>
          </p:cNvCxnSpPr>
          <p:nvPr/>
        </p:nvCxnSpPr>
        <p:spPr>
          <a:xfrm rot="5400000">
            <a:off x="7354062" y="6494526"/>
            <a:ext cx="411479" cy="0"/>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12" idx="2"/>
            <a:endCxn id="15" idx="0"/>
          </p:cNvCxnSpPr>
          <p:nvPr/>
        </p:nvCxnSpPr>
        <p:spPr>
          <a:xfrm rot="5400000">
            <a:off x="4937760" y="4078224"/>
            <a:ext cx="411479" cy="4832604"/>
          </a:xfrm>
          <a:prstGeom prst="bentConnector3">
            <a:avLst/>
          </a:prstGeom>
          <a:ln w="15875">
            <a:solidFill>
              <a:srgbClr val="4A5867"/>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14" idx="1"/>
            <a:endCxn id="12" idx="3"/>
          </p:cNvCxnSpPr>
          <p:nvPr/>
        </p:nvCxnSpPr>
        <p:spPr>
          <a:xfrm flipH="1">
            <a:off x="10848029" y="5420106"/>
            <a:ext cx="320041"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a:stCxn id="13" idx="3"/>
            <a:endCxn id="12" idx="1"/>
          </p:cNvCxnSpPr>
          <p:nvPr/>
        </p:nvCxnSpPr>
        <p:spPr>
          <a:xfrm>
            <a:off x="3951533" y="5420106"/>
            <a:ext cx="320040" cy="0"/>
          </a:xfrm>
          <a:prstGeom prst="line">
            <a:avLst/>
          </a:prstGeom>
          <a:ln w="15875">
            <a:solidFill>
              <a:srgbClr val="6B7A89"/>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 name="Encabezado institucional"/>
          <p:cNvSpPr/>
          <p:nvPr/>
        </p:nvSpPr>
        <p:spPr>
          <a:xfrm>
            <a:off x="0" y="0"/>
            <a:ext cx="15119604" cy="74980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rIns="73152"/>
          <a:lstStyle/>
          <a:p>
            <a:pPr algn="l"/>
            <a:r>
              <a:rPr sz="900" b="1" i="0">
                <a:solidFill>
                  <a:srgbClr val="FFFFFF"/>
                </a:solidFill>
                <a:latin typeface="Arial"/>
              </a:rPr>
              <a:t>AUTORIDAD NACIONAL DE INFRAESTRUCTURA - ANIN  ·  DIME  ·  SUBDIRECCIÓN DE ESTUDIOS DE INVERSIÓN - SESDI</a:t>
            </a:r>
          </a:p>
          <a:p>
            <a:pPr algn="l"/>
            <a:r>
              <a:rPr sz="1620" b="1" i="0">
                <a:solidFill>
                  <a:srgbClr val="FFFFFF"/>
                </a:solidFill>
                <a:latin typeface="Arial"/>
              </a:rPr>
              <a:t>Árbol de problemas – Provincia de Ayabaca (distrito de Frías)</a:t>
            </a:r>
          </a:p>
          <a:p>
            <a:pPr algn="l"/>
            <a:r>
              <a:rPr sz="960" b="0" i="0">
                <a:solidFill>
                  <a:srgbClr val="FFFFFF"/>
                </a:solidFill>
                <a:latin typeface="Arial"/>
              </a:rPr>
              <a:t>Cuenca alta del río Piura · 10 bloques · 1,391.70 ha · 4 microcuencas · 17 centros poblados (2,541 hab., Censo 2017)</a:t>
            </a:r>
          </a:p>
        </p:txBody>
      </p:sp>
      <p:sp>
        <p:nvSpPr>
          <p:cNvPr id="3" name="Pie de lámina"/>
          <p:cNvSpPr txBox="1"/>
          <p:nvPr/>
        </p:nvSpPr>
        <p:spPr>
          <a:xfrm>
            <a:off x="411480" y="10308031"/>
            <a:ext cx="14296644" cy="274320"/>
          </a:xfrm>
          <a:prstGeom prst="rect">
            <a:avLst/>
          </a:prstGeom>
          <a:noFill/>
        </p:spPr>
        <p:txBody>
          <a:bodyPr wrap="square" lIns="73152" rIns="73152" anchor="ctr">
            <a:spAutoFit/>
          </a:bodyPr>
          <a:lstStyle/>
          <a:p>
            <a:pPr algn="l"/>
            <a:r>
              <a:rPr sz="750" b="0" i="0">
                <a:solidFill>
                  <a:srgbClr val="55677A"/>
                </a:solidFill>
                <a:latin typeface="Arial"/>
              </a:rPr>
              <a:t>ANIN - DIME - SESDI · Proyecto IN Piura · CUI 2669244 · Versión 1.0, 30-oct-2026  ·  Fuentes: Informe E2 Vol. III Ayabaca (30-oct-2026); Diagnóstico Ayabaca V5; Informe EVAR (19-oct-2026)</a:t>
            </a:r>
          </a:p>
        </p:txBody>
      </p:sp>
      <p:sp>
        <p:nvSpPr>
          <p:cNvPr id="4" name="EF · EF"/>
          <p:cNvSpPr/>
          <p:nvPr/>
        </p:nvSpPr>
        <p:spPr>
          <a:xfrm>
            <a:off x="3127842" y="960120"/>
            <a:ext cx="8863919" cy="834390"/>
          </a:xfrm>
          <a:prstGeom prst="roundRect">
            <a:avLst>
              <a:gd name="adj" fmla="val 12000"/>
            </a:avLst>
          </a:prstGeom>
          <a:solidFill>
            <a:srgbClr val="8C5A12"/>
          </a:solidFill>
          <a:ln w="12700">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25" b="1" i="0">
                <a:solidFill>
                  <a:srgbClr val="FFFFFF"/>
                </a:solidFill>
                <a:latin typeface="Arial"/>
              </a:rPr>
              <a:t>Incremento de los costos de reconstrucción y disminución de la resiliencia de la población de Frías y sus medios de vida frente a movimientos en masa e inundaciones desencadenados por lluvias extremas, intensificadas por el cambio climático</a:t>
            </a:r>
          </a:p>
        </p:txBody>
      </p:sp>
      <p:sp>
        <p:nvSpPr>
          <p:cNvPr id="5" name="EI1 · EI"/>
          <p:cNvSpPr/>
          <p:nvPr/>
        </p:nvSpPr>
        <p:spPr>
          <a:xfrm>
            <a:off x="411480" y="2178558"/>
            <a:ext cx="3423285" cy="86868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EI1  </a:t>
            </a:r>
            <a:r>
              <a:rPr sz="1275" b="0" i="0">
                <a:solidFill>
                  <a:srgbClr val="1B2733"/>
                </a:solidFill>
                <a:latin typeface="Arial"/>
              </a:rPr>
              <a:t>Daños a taludes y vías, viviendas, líneas de conducción de agua y tendido eléctrico; cortes de servicio en temporada de lluvias</a:t>
            </a:r>
          </a:p>
        </p:txBody>
      </p:sp>
      <p:sp>
        <p:nvSpPr>
          <p:cNvPr id="6" name="EI2 · EI"/>
          <p:cNvSpPr/>
          <p:nvPr/>
        </p:nvSpPr>
        <p:spPr>
          <a:xfrm>
            <a:off x="4035933" y="2178558"/>
            <a:ext cx="3423285" cy="86868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EI2  </a:t>
            </a:r>
            <a:r>
              <a:rPr sz="1275" b="0" i="0">
                <a:solidFill>
                  <a:srgbClr val="1B2733"/>
                </a:solidFill>
                <a:latin typeface="Arial"/>
              </a:rPr>
              <a:t>Pérdida de suelo productivo y de rendimiento de cultivos (maíz, frejol, café, palta, cacao) que sostienen a las familias</a:t>
            </a:r>
          </a:p>
        </p:txBody>
      </p:sp>
      <p:sp>
        <p:nvSpPr>
          <p:cNvPr id="7" name="EI3 · EI"/>
          <p:cNvSpPr/>
          <p:nvPr/>
        </p:nvSpPr>
        <p:spPr>
          <a:xfrm>
            <a:off x="7660386" y="2178558"/>
            <a:ext cx="3423285" cy="86868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EI3  </a:t>
            </a:r>
            <a:r>
              <a:rPr sz="1275" b="0" i="0">
                <a:solidFill>
                  <a:srgbClr val="1B2733"/>
                </a:solidFill>
                <a:latin typeface="Arial"/>
              </a:rPr>
              <a:t>Mayor aporte de sedimentos y colmatación de quebradas que drenan al valle del Alto Piura</a:t>
            </a:r>
          </a:p>
        </p:txBody>
      </p:sp>
      <p:sp>
        <p:nvSpPr>
          <p:cNvPr id="8" name="EI4 · EI"/>
          <p:cNvSpPr/>
          <p:nvPr/>
        </p:nvSpPr>
        <p:spPr>
          <a:xfrm>
            <a:off x="11284838" y="2178558"/>
            <a:ext cx="3423285" cy="868680"/>
          </a:xfrm>
          <a:prstGeom prst="rect">
            <a:avLst/>
          </a:prstGeom>
          <a:solidFill>
            <a:srgbClr val="FBF3E2"/>
          </a:solidFill>
          <a:ln w="12700">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94" b="1" i="0">
                <a:solidFill>
                  <a:srgbClr val="1B2733"/>
                </a:solidFill>
                <a:latin typeface="Arial"/>
              </a:rPr>
              <a:t>EI4  </a:t>
            </a:r>
            <a:r>
              <a:rPr sz="1275" b="0" i="0">
                <a:solidFill>
                  <a:srgbClr val="1B2733"/>
                </a:solidFill>
                <a:latin typeface="Arial"/>
              </a:rPr>
              <a:t>Pérdida de otros servicios del ecosistema: regulación hídrica de fuentes, hábitat de especies en peligro crítico y carbono</a:t>
            </a:r>
          </a:p>
        </p:txBody>
      </p:sp>
      <p:sp>
        <p:nvSpPr>
          <p:cNvPr id="9" name="ED1 · ED"/>
          <p:cNvSpPr/>
          <p:nvPr/>
        </p:nvSpPr>
        <p:spPr>
          <a:xfrm>
            <a:off x="411480" y="3431286"/>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ED1  </a:t>
            </a:r>
            <a:r>
              <a:rPr sz="1350" b="1" i="0">
                <a:solidFill>
                  <a:srgbClr val="1B2733"/>
                </a:solidFill>
                <a:latin typeface="Arial"/>
              </a:rPr>
              <a:t>Mayor ocurrencia de movimientos en masa (desprendimientos, caídas de rocas y deslizamientos) en taludes, laderas y piedemonte</a:t>
            </a:r>
          </a:p>
        </p:txBody>
      </p:sp>
      <p:sp>
        <p:nvSpPr>
          <p:cNvPr id="10" name="ED2 · ED"/>
          <p:cNvSpPr/>
          <p:nvPr/>
        </p:nvSpPr>
        <p:spPr>
          <a:xfrm>
            <a:off x="5244084" y="3431286"/>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ED2  </a:t>
            </a:r>
            <a:r>
              <a:rPr sz="1350" b="1" i="0">
                <a:solidFill>
                  <a:srgbClr val="1B2733"/>
                </a:solidFill>
                <a:latin typeface="Arial"/>
              </a:rPr>
              <a:t>Erosión hídrica acelerada y pérdida de suelo en laderas (surcos y cárcavas)</a:t>
            </a:r>
          </a:p>
        </p:txBody>
      </p:sp>
      <p:sp>
        <p:nvSpPr>
          <p:cNvPr id="11" name="ED3 · ED"/>
          <p:cNvSpPr/>
          <p:nvPr/>
        </p:nvSpPr>
        <p:spPr>
          <a:xfrm>
            <a:off x="10076688" y="3431286"/>
            <a:ext cx="4631436" cy="708660"/>
          </a:xfrm>
          <a:prstGeom prst="rect">
            <a:avLst/>
          </a:prstGeom>
          <a:solidFill>
            <a:srgbClr val="F6E7C8"/>
          </a:solidFill>
          <a:ln w="22225">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ED3  </a:t>
            </a:r>
            <a:r>
              <a:rPr sz="1350" b="1" i="0">
                <a:solidFill>
                  <a:srgbClr val="1B2733"/>
                </a:solidFill>
                <a:latin typeface="Arial"/>
              </a:rPr>
              <a:t>Mayor escorrentía superficial concentrada y carga de sedimentos desde las zonas de origen hacia las quebradas</a:t>
            </a:r>
          </a:p>
        </p:txBody>
      </p:sp>
      <p:sp>
        <p:nvSpPr>
          <p:cNvPr id="12" name="PC · PC"/>
          <p:cNvSpPr/>
          <p:nvPr/>
        </p:nvSpPr>
        <p:spPr>
          <a:xfrm>
            <a:off x="4271573" y="4551426"/>
            <a:ext cx="6576456" cy="1737360"/>
          </a:xfrm>
          <a:prstGeom prst="roundRect">
            <a:avLst>
              <a:gd name="adj" fmla="val 12000"/>
            </a:avLst>
          </a:prstGeom>
          <a:solidFill>
            <a:srgbClr val="1B4F72"/>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50" b="1" i="0">
                <a:solidFill>
                  <a:srgbClr val="FFFFFF"/>
                </a:solidFill>
                <a:latin typeface="Arial"/>
              </a:rPr>
              <a:t>La población de Frías (provincia de Ayabaca) no accede adecuadamente al servicio ecosistémico de regulación de riesgos naturales por la degradación del bosque estacionalmente seco y de los mosaicos agropecuarios de ladera en las zonas de origen de movimientos en masa e inundaciones</a:t>
            </a:r>
          </a:p>
        </p:txBody>
      </p:sp>
      <p:sp>
        <p:nvSpPr>
          <p:cNvPr id="13" name="EX1 · EX"/>
          <p:cNvSpPr/>
          <p:nvPr/>
        </p:nvSpPr>
        <p:spPr>
          <a:xfrm>
            <a:off x="411480" y="4551426"/>
            <a:ext cx="3540053" cy="173736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50" b="1" i="0">
                <a:solidFill>
                  <a:srgbClr val="55677A"/>
                </a:solidFill>
                <a:latin typeface="Arial"/>
              </a:rPr>
              <a:t>Factores condicionantes del peligro</a:t>
            </a:r>
          </a:p>
          <a:p>
            <a:pPr algn="l"/>
            <a:r>
              <a:rPr sz="1150" b="0" i="0">
                <a:solidFill>
                  <a:srgbClr val="55677A"/>
                </a:solidFill>
                <a:latin typeface="Arial"/>
              </a:rPr>
              <a:t>Pendiente media 57.5 % (64.6 % del área sobre 50 % y 204.37 ha sobre 75 %), la más fuerte del proyecto; susceptibilidad litológica a movimientos en masa alta en los 10 bloques; granito meteorizado (Súper Unidad Paltashaco).</a:t>
            </a:r>
          </a:p>
        </p:txBody>
      </p:sp>
      <p:sp>
        <p:nvSpPr>
          <p:cNvPr id="14" name="EX2 · EX"/>
          <p:cNvSpPr/>
          <p:nvPr/>
        </p:nvSpPr>
        <p:spPr>
          <a:xfrm>
            <a:off x="11168070" y="4551426"/>
            <a:ext cx="3540053" cy="1737360"/>
          </a:xfrm>
          <a:prstGeom prst="rect">
            <a:avLst/>
          </a:prstGeom>
          <a:solidFill>
            <a:srgbClr val="FFFFFF"/>
          </a:solidFill>
          <a:ln w="12700">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50" b="1" i="0">
                <a:solidFill>
                  <a:srgbClr val="55677A"/>
                </a:solidFill>
                <a:latin typeface="Arial"/>
              </a:rPr>
              <a:t>Factor desencadenante y cambio climático</a:t>
            </a:r>
          </a:p>
          <a:p>
            <a:pPr algn="l"/>
            <a:r>
              <a:rPr sz="1150" b="0" i="0">
                <a:solidFill>
                  <a:srgbClr val="55677A"/>
                </a:solidFill>
                <a:latin typeface="Arial"/>
              </a:rPr>
              <a:t>Lluvias de El Niño 1983, 1998 y 2023 entre 2.7 y 4.9 veces la media; abril 2023: 765–1,082 mm; 84 % de probabilidad de un año ≥ 2 veces la media en 20 años; Tmáx +0.21 a +0.25 °C por década.</a:t>
            </a:r>
          </a:p>
        </p:txBody>
      </p:sp>
      <p:sp>
        <p:nvSpPr>
          <p:cNvPr id="15" name="CD1 · CD"/>
          <p:cNvSpPr/>
          <p:nvPr/>
        </p:nvSpPr>
        <p:spPr>
          <a:xfrm>
            <a:off x="411480" y="670026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CD1  </a:t>
            </a:r>
            <a:r>
              <a:rPr sz="1350" b="1" i="0">
                <a:solidFill>
                  <a:srgbClr val="1B2733"/>
                </a:solidFill>
                <a:latin typeface="Arial"/>
              </a:rPr>
              <a:t>Degradación de la cobertura vegetal protectora en las zonas de origen</a:t>
            </a:r>
          </a:p>
        </p:txBody>
      </p:sp>
      <p:sp>
        <p:nvSpPr>
          <p:cNvPr id="16" name="CD2 · CD"/>
          <p:cNvSpPr/>
          <p:nvPr/>
        </p:nvSpPr>
        <p:spPr>
          <a:xfrm>
            <a:off x="5244084" y="670026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CD2  </a:t>
            </a:r>
            <a:r>
              <a:rPr sz="1350" b="1" i="0">
                <a:solidFill>
                  <a:srgbClr val="1B2733"/>
                </a:solidFill>
                <a:latin typeface="Arial"/>
              </a:rPr>
              <a:t>Reducida capacidad de los suelos y laderas para controlar la erosión y la escorrentía</a:t>
            </a:r>
          </a:p>
        </p:txBody>
      </p:sp>
      <p:sp>
        <p:nvSpPr>
          <p:cNvPr id="17" name="CD3 · CD"/>
          <p:cNvSpPr/>
          <p:nvPr/>
        </p:nvSpPr>
        <p:spPr>
          <a:xfrm>
            <a:off x="10076688" y="6700266"/>
            <a:ext cx="4631436" cy="502920"/>
          </a:xfrm>
          <a:prstGeom prst="rect">
            <a:avLst/>
          </a:prstGeom>
          <a:solidFill>
            <a:srgbClr val="E5EEF6"/>
          </a:solidFill>
          <a:ln w="2222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3" b="1" i="0">
                <a:solidFill>
                  <a:srgbClr val="1B2733"/>
                </a:solidFill>
                <a:latin typeface="Arial"/>
              </a:rPr>
              <a:t>CD3  </a:t>
            </a:r>
            <a:r>
              <a:rPr sz="1350" b="1" i="0">
                <a:solidFill>
                  <a:srgbClr val="1B2733"/>
                </a:solidFill>
                <a:latin typeface="Arial"/>
              </a:rPr>
              <a:t>Inadecuada gobernanza y gestión local del ecosistema y del riesgo</a:t>
            </a:r>
          </a:p>
        </p:txBody>
      </p:sp>
      <p:sp>
        <p:nvSpPr>
          <p:cNvPr id="18" name="CI1.1 · CI"/>
          <p:cNvSpPr/>
          <p:nvPr/>
        </p:nvSpPr>
        <p:spPr>
          <a:xfrm>
            <a:off x="685800" y="7404354"/>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CI1.1  </a:t>
            </a:r>
            <a:r>
              <a:rPr sz="1225" b="0" i="0">
                <a:solidFill>
                  <a:srgbClr val="1B2733"/>
                </a:solidFill>
                <a:latin typeface="Arial"/>
              </a:rPr>
              <a:t>Expansión de la agricultura de subsistencia de secano hacia laderas de fuerte pendiente</a:t>
            </a:r>
          </a:p>
        </p:txBody>
      </p:sp>
      <p:sp>
        <p:nvSpPr>
          <p:cNvPr id="19" name="CI1.2 · CI"/>
          <p:cNvSpPr/>
          <p:nvPr/>
        </p:nvSpPr>
        <p:spPr>
          <a:xfrm>
            <a:off x="685800" y="7988046"/>
            <a:ext cx="4357116" cy="65151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CI1.2  </a:t>
            </a:r>
            <a:r>
              <a:rPr sz="1225" b="0" i="0">
                <a:solidFill>
                  <a:srgbClr val="1B2733"/>
                </a:solidFill>
                <a:latin typeface="Arial"/>
              </a:rPr>
              <a:t>Tala y extracción selectiva de especies del bosque seco, incluidas especies en peligro crítico</a:t>
            </a:r>
          </a:p>
        </p:txBody>
      </p:sp>
      <p:sp>
        <p:nvSpPr>
          <p:cNvPr id="20" name="CI1.3 · CI"/>
          <p:cNvSpPr/>
          <p:nvPr/>
        </p:nvSpPr>
        <p:spPr>
          <a:xfrm>
            <a:off x="685800" y="875842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CI1.3  </a:t>
            </a:r>
            <a:r>
              <a:rPr sz="1225" b="0" i="0">
                <a:solidFill>
                  <a:srgbClr val="1B2733"/>
                </a:solidFill>
                <a:latin typeface="Arial"/>
              </a:rPr>
              <a:t>Pastoreo libre de vacunos y caprinos sin ordenamiento, que impide la regeneración natural</a:t>
            </a:r>
          </a:p>
        </p:txBody>
      </p:sp>
      <p:sp>
        <p:nvSpPr>
          <p:cNvPr id="21" name="CI1.4 · CI"/>
          <p:cNvSpPr/>
          <p:nvPr/>
        </p:nvSpPr>
        <p:spPr>
          <a:xfrm>
            <a:off x="685800" y="9342120"/>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CI1.4  </a:t>
            </a:r>
            <a:r>
              <a:rPr sz="1225" b="0" i="0">
                <a:solidFill>
                  <a:srgbClr val="1B2733"/>
                </a:solidFill>
                <a:latin typeface="Arial"/>
              </a:rPr>
              <a:t>Baja capacidad de regeneración natural del bosque seco por aridez y alta variabilidad de las lluvias</a:t>
            </a:r>
          </a:p>
        </p:txBody>
      </p:sp>
      <p:sp>
        <p:nvSpPr>
          <p:cNvPr id="22" name="CI2.1 · CI"/>
          <p:cNvSpPr/>
          <p:nvPr/>
        </p:nvSpPr>
        <p:spPr>
          <a:xfrm>
            <a:off x="5518404" y="7404354"/>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CI2.1  </a:t>
            </a:r>
            <a:r>
              <a:rPr sz="1225" b="0" i="0">
                <a:solidFill>
                  <a:srgbClr val="1B2733"/>
                </a:solidFill>
                <a:latin typeface="Arial"/>
              </a:rPr>
              <a:t>Corredor vial y trochas con cortes de talud sin estabilización ni drenaje, que concentran la escorrentía</a:t>
            </a:r>
          </a:p>
        </p:txBody>
      </p:sp>
      <p:sp>
        <p:nvSpPr>
          <p:cNvPr id="23" name="CI2.2 · CI"/>
          <p:cNvSpPr/>
          <p:nvPr/>
        </p:nvSpPr>
        <p:spPr>
          <a:xfrm>
            <a:off x="5518404" y="7988046"/>
            <a:ext cx="4357116" cy="65151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CI2.2  </a:t>
            </a:r>
            <a:r>
              <a:rPr sz="1225" b="0" i="0">
                <a:solidFill>
                  <a:srgbClr val="1B2733"/>
                </a:solidFill>
                <a:latin typeface="Arial"/>
              </a:rPr>
              <a:t>Laderas cultivadas sin prácticas de conservación de suelos (labranza a favor de la pendiente)</a:t>
            </a:r>
          </a:p>
        </p:txBody>
      </p:sp>
      <p:sp>
        <p:nvSpPr>
          <p:cNvPr id="24" name="CI2.3 · CI"/>
          <p:cNvSpPr/>
          <p:nvPr/>
        </p:nvSpPr>
        <p:spPr>
          <a:xfrm>
            <a:off x="5518404" y="875842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CI2.3  </a:t>
            </a:r>
            <a:r>
              <a:rPr sz="1225" b="0" i="0">
                <a:solidFill>
                  <a:srgbClr val="1B2733"/>
                </a:solidFill>
                <a:latin typeface="Arial"/>
              </a:rPr>
              <a:t>Cárcavas activas sin control que progresan en cabecera</a:t>
            </a:r>
          </a:p>
        </p:txBody>
      </p:sp>
      <p:sp>
        <p:nvSpPr>
          <p:cNvPr id="25" name="CI3.1 · CI"/>
          <p:cNvSpPr/>
          <p:nvPr/>
        </p:nvSpPr>
        <p:spPr>
          <a:xfrm>
            <a:off x="10351008" y="7404354"/>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CI3.1  </a:t>
            </a:r>
            <a:r>
              <a:rPr sz="1225" b="0" i="0">
                <a:solidFill>
                  <a:srgbClr val="1B2733"/>
                </a:solidFill>
                <a:latin typeface="Arial"/>
              </a:rPr>
              <a:t>Limitado conocimiento y organización comunal para el manejo del ecosistema y la gestión del riesgo</a:t>
            </a:r>
          </a:p>
        </p:txBody>
      </p:sp>
      <p:sp>
        <p:nvSpPr>
          <p:cNvPr id="26" name="CI3.2 · CI"/>
          <p:cNvSpPr/>
          <p:nvPr/>
        </p:nvSpPr>
        <p:spPr>
          <a:xfrm>
            <a:off x="10351008" y="7988046"/>
            <a:ext cx="4357116" cy="65151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CI3.2  </a:t>
            </a:r>
            <a:r>
              <a:rPr sz="1225" b="0" i="0">
                <a:solidFill>
                  <a:srgbClr val="1B2733"/>
                </a:solidFill>
                <a:latin typeface="Arial"/>
              </a:rPr>
              <a:t>Limitada presencia y articulación institucional, sin espacios de concertación, y desconfianza hacia agentes externos</a:t>
            </a:r>
          </a:p>
        </p:txBody>
      </p:sp>
      <p:sp>
        <p:nvSpPr>
          <p:cNvPr id="27" name="CI3.3 · CI"/>
          <p:cNvSpPr/>
          <p:nvPr/>
        </p:nvSpPr>
        <p:spPr>
          <a:xfrm>
            <a:off x="10351008" y="8758428"/>
            <a:ext cx="4357116" cy="464820"/>
          </a:xfrm>
          <a:prstGeom prst="rect">
            <a:avLst/>
          </a:prstGeom>
          <a:solidFill>
            <a:srgbClr val="F3F7FA"/>
          </a:solidFill>
          <a:ln w="12700">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55" b="1" i="0">
                <a:solidFill>
                  <a:srgbClr val="1B2733"/>
                </a:solidFill>
                <a:latin typeface="Arial"/>
              </a:rPr>
              <a:t>CI3.3  </a:t>
            </a:r>
            <a:r>
              <a:rPr sz="1225" b="0" i="0">
                <a:solidFill>
                  <a:srgbClr val="1B2733"/>
                </a:solidFill>
                <a:latin typeface="Arial"/>
              </a:rPr>
              <a:t>Tenencia comunal con posesión informal y linderos en disputa</a:t>
            </a:r>
          </a:p>
        </p:txBody>
      </p:sp>
      <p:sp>
        <p:nvSpPr>
          <p:cNvPr id="55" name="Rectangle 54"/>
          <p:cNvSpPr/>
          <p:nvPr/>
        </p:nvSpPr>
        <p:spPr>
          <a:xfrm>
            <a:off x="411480" y="9953244"/>
            <a:ext cx="164592" cy="118872"/>
          </a:xfrm>
          <a:prstGeom prst="rect">
            <a:avLst/>
          </a:prstGeom>
          <a:solidFill>
            <a:srgbClr val="8C5A12"/>
          </a:solidFill>
          <a:ln>
            <a:solidFill>
              <a:srgbClr val="8C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2648" y="9916668"/>
            <a:ext cx="604504" cy="201168"/>
          </a:xfrm>
          <a:prstGeom prst="rect">
            <a:avLst/>
          </a:prstGeom>
          <a:noFill/>
        </p:spPr>
        <p:txBody>
          <a:bodyPr wrap="square" lIns="0" rIns="0" anchor="ctr">
            <a:spAutoFit/>
          </a:bodyPr>
          <a:lstStyle/>
          <a:p>
            <a:pPr algn="l"/>
            <a:r>
              <a:rPr sz="750" b="0" i="0">
                <a:solidFill>
                  <a:srgbClr val="55677A"/>
                </a:solidFill>
                <a:latin typeface="Arial"/>
              </a:rPr>
              <a:t>Efecto final</a:t>
            </a:r>
          </a:p>
        </p:txBody>
      </p:sp>
      <p:sp>
        <p:nvSpPr>
          <p:cNvPr id="57" name="Rectangle 56"/>
          <p:cNvSpPr/>
          <p:nvPr/>
        </p:nvSpPr>
        <p:spPr>
          <a:xfrm>
            <a:off x="1400032" y="9953244"/>
            <a:ext cx="164592" cy="118872"/>
          </a:xfrm>
          <a:prstGeom prst="rect">
            <a:avLst/>
          </a:prstGeom>
          <a:solidFill>
            <a:srgbClr val="FBF3E2"/>
          </a:solidFill>
          <a:ln>
            <a:solidFill>
              <a:srgbClr val="C9A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01200" y="9916668"/>
            <a:ext cx="788289" cy="201168"/>
          </a:xfrm>
          <a:prstGeom prst="rect">
            <a:avLst/>
          </a:prstGeom>
          <a:noFill/>
        </p:spPr>
        <p:txBody>
          <a:bodyPr wrap="square" lIns="0" rIns="0" anchor="ctr">
            <a:spAutoFit/>
          </a:bodyPr>
          <a:lstStyle/>
          <a:p>
            <a:pPr algn="l"/>
            <a:r>
              <a:rPr sz="750" b="0" i="0">
                <a:solidFill>
                  <a:srgbClr val="55677A"/>
                </a:solidFill>
                <a:latin typeface="Arial"/>
              </a:rPr>
              <a:t>Efecto indirecto</a:t>
            </a:r>
          </a:p>
        </p:txBody>
      </p:sp>
      <p:sp>
        <p:nvSpPr>
          <p:cNvPr id="59" name="Rectangle 58"/>
          <p:cNvSpPr/>
          <p:nvPr/>
        </p:nvSpPr>
        <p:spPr>
          <a:xfrm>
            <a:off x="2572369" y="9953244"/>
            <a:ext cx="164592" cy="118872"/>
          </a:xfrm>
          <a:prstGeom prst="rect">
            <a:avLst/>
          </a:prstGeom>
          <a:solidFill>
            <a:srgbClr val="F6E7C8"/>
          </a:solidFill>
          <a:ln>
            <a:solidFill>
              <a:srgbClr val="B88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773537" y="9916668"/>
            <a:ext cx="714756" cy="201168"/>
          </a:xfrm>
          <a:prstGeom prst="rect">
            <a:avLst/>
          </a:prstGeom>
          <a:noFill/>
        </p:spPr>
        <p:txBody>
          <a:bodyPr wrap="square" lIns="0" rIns="0" anchor="ctr">
            <a:spAutoFit/>
          </a:bodyPr>
          <a:lstStyle/>
          <a:p>
            <a:pPr algn="l"/>
            <a:r>
              <a:rPr sz="750" b="0" i="0">
                <a:solidFill>
                  <a:srgbClr val="55677A"/>
                </a:solidFill>
                <a:latin typeface="Arial"/>
              </a:rPr>
              <a:t>Efecto directo</a:t>
            </a:r>
          </a:p>
        </p:txBody>
      </p:sp>
      <p:sp>
        <p:nvSpPr>
          <p:cNvPr id="61" name="Rectangle 60"/>
          <p:cNvSpPr/>
          <p:nvPr/>
        </p:nvSpPr>
        <p:spPr>
          <a:xfrm>
            <a:off x="3671173" y="9953244"/>
            <a:ext cx="164592" cy="118872"/>
          </a:xfrm>
          <a:prstGeom prst="rect">
            <a:avLst/>
          </a:prstGeom>
          <a:solidFill>
            <a:srgbClr val="1B4F72"/>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72341" y="9916668"/>
            <a:ext cx="851296" cy="201168"/>
          </a:xfrm>
          <a:prstGeom prst="rect">
            <a:avLst/>
          </a:prstGeom>
          <a:noFill/>
        </p:spPr>
        <p:txBody>
          <a:bodyPr wrap="square" lIns="0" rIns="0" anchor="ctr">
            <a:spAutoFit/>
          </a:bodyPr>
          <a:lstStyle/>
          <a:p>
            <a:pPr algn="l"/>
            <a:r>
              <a:rPr sz="750" b="0" i="0">
                <a:solidFill>
                  <a:srgbClr val="55677A"/>
                </a:solidFill>
                <a:latin typeface="Arial"/>
              </a:rPr>
              <a:t>Problema central</a:t>
            </a:r>
          </a:p>
        </p:txBody>
      </p:sp>
      <p:sp>
        <p:nvSpPr>
          <p:cNvPr id="63" name="Rectangle 62"/>
          <p:cNvSpPr/>
          <p:nvPr/>
        </p:nvSpPr>
        <p:spPr>
          <a:xfrm>
            <a:off x="4906517" y="9953244"/>
            <a:ext cx="164592" cy="118872"/>
          </a:xfrm>
          <a:prstGeom prst="rect">
            <a:avLst/>
          </a:prstGeom>
          <a:solidFill>
            <a:srgbClr val="E5EEF6"/>
          </a:solidFill>
          <a:ln>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07685" y="9916668"/>
            <a:ext cx="720042" cy="201168"/>
          </a:xfrm>
          <a:prstGeom prst="rect">
            <a:avLst/>
          </a:prstGeom>
          <a:noFill/>
        </p:spPr>
        <p:txBody>
          <a:bodyPr wrap="square" lIns="0" rIns="0" anchor="ctr">
            <a:spAutoFit/>
          </a:bodyPr>
          <a:lstStyle/>
          <a:p>
            <a:pPr algn="l"/>
            <a:r>
              <a:rPr sz="750" b="0" i="0">
                <a:solidFill>
                  <a:srgbClr val="55677A"/>
                </a:solidFill>
                <a:latin typeface="Arial"/>
              </a:rPr>
              <a:t>Causa directa</a:t>
            </a:r>
          </a:p>
        </p:txBody>
      </p:sp>
      <p:sp>
        <p:nvSpPr>
          <p:cNvPr id="65" name="Rectangle 64"/>
          <p:cNvSpPr/>
          <p:nvPr/>
        </p:nvSpPr>
        <p:spPr>
          <a:xfrm>
            <a:off x="6010608" y="9953244"/>
            <a:ext cx="164592" cy="118872"/>
          </a:xfrm>
          <a:prstGeom prst="rect">
            <a:avLst/>
          </a:prstGeom>
          <a:solidFill>
            <a:srgbClr val="F3F7FA"/>
          </a:solidFill>
          <a:ln>
            <a:solidFill>
              <a:srgbClr val="7B9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11776" y="9916668"/>
            <a:ext cx="793575" cy="201168"/>
          </a:xfrm>
          <a:prstGeom prst="rect">
            <a:avLst/>
          </a:prstGeom>
          <a:noFill/>
        </p:spPr>
        <p:txBody>
          <a:bodyPr wrap="square" lIns="0" rIns="0" anchor="ctr">
            <a:spAutoFit/>
          </a:bodyPr>
          <a:lstStyle/>
          <a:p>
            <a:pPr algn="l"/>
            <a:r>
              <a:rPr sz="750" b="0" i="0">
                <a:solidFill>
                  <a:srgbClr val="55677A"/>
                </a:solidFill>
                <a:latin typeface="Arial"/>
              </a:rPr>
              <a:t>Causa indirecta</a:t>
            </a:r>
          </a:p>
        </p:txBody>
      </p:sp>
      <p:sp>
        <p:nvSpPr>
          <p:cNvPr id="67" name="Rectangle 66"/>
          <p:cNvSpPr/>
          <p:nvPr/>
        </p:nvSpPr>
        <p:spPr>
          <a:xfrm>
            <a:off x="7188231" y="9953244"/>
            <a:ext cx="164592" cy="118872"/>
          </a:xfrm>
          <a:prstGeom prst="rect">
            <a:avLst/>
          </a:prstGeom>
          <a:solidFill>
            <a:srgbClr val="FFFFFF"/>
          </a:solidFill>
          <a:ln>
            <a:solidFill>
              <a:srgbClr val="6B7A8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89399" y="9916668"/>
            <a:ext cx="2295429" cy="201168"/>
          </a:xfrm>
          <a:prstGeom prst="rect">
            <a:avLst/>
          </a:prstGeom>
          <a:noFill/>
        </p:spPr>
        <p:txBody>
          <a:bodyPr wrap="square" lIns="0" rIns="0" anchor="ctr">
            <a:spAutoFit/>
          </a:bodyPr>
          <a:lstStyle/>
          <a:p>
            <a:pPr algn="l"/>
            <a:r>
              <a:rPr sz="750" b="0" i="0">
                <a:solidFill>
                  <a:srgbClr val="55677A"/>
                </a:solidFill>
                <a:latin typeface="Arial"/>
              </a:rPr>
              <a:t>Factor exógeno de peligro (no controlable por el 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Árboles de problemas, causas y efectos – Proyecto IN Piura</dc:title>
  <dc:subject>Árboles de problemas, causas y efectos - Estudio de preinversión</dc:subject>
  <dc:creator>ANIN - DIME - SESDI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